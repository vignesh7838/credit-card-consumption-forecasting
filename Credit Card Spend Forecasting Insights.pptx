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Barlow Bold" panose="020B0604020202020204" charset="0"/>
      <p:regular r:id="rId18"/>
    </p:embeddedFont>
    <p:embeddedFont>
      <p:font typeface="Montserrat" panose="00000500000000000000" pitchFamily="2" charset="0"/>
      <p:regular r:id="rId19"/>
    </p:embeddedFont>
    <p:embeddedFont>
      <p:font typeface="Montserrat Bold" panose="00000800000000000000"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gnesh Jaganathan" initials="VJ" lastIdx="1" clrIdx="0">
    <p:extLst>
      <p:ext uri="{19B8F6BF-5375-455C-9EA6-DF929625EA0E}">
        <p15:presenceInfo xmlns:p15="http://schemas.microsoft.com/office/powerpoint/2012/main" userId="9c97c70d3bc6f0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Jaganathan" userId="9c97c70d3bc6f0d3" providerId="LiveId" clId="{7539CEB7-D7B6-4E8F-A47A-3BD1DC1A049A}"/>
    <pc:docChg chg="undo custSel modSld sldOrd">
      <pc:chgData name="Vignesh Jaganathan" userId="9c97c70d3bc6f0d3" providerId="LiveId" clId="{7539CEB7-D7B6-4E8F-A47A-3BD1DC1A049A}" dt="2026-05-03T18:29:32.217" v="342"/>
      <pc:docMkLst>
        <pc:docMk/>
      </pc:docMkLst>
      <pc:sldChg chg="modSp mod">
        <pc:chgData name="Vignesh Jaganathan" userId="9c97c70d3bc6f0d3" providerId="LiveId" clId="{7539CEB7-D7B6-4E8F-A47A-3BD1DC1A049A}" dt="2026-05-03T17:55:59.097" v="55" actId="20577"/>
        <pc:sldMkLst>
          <pc:docMk/>
          <pc:sldMk cId="0" sldId="256"/>
        </pc:sldMkLst>
        <pc:spChg chg="mod">
          <ac:chgData name="Vignesh Jaganathan" userId="9c97c70d3bc6f0d3" providerId="LiveId" clId="{7539CEB7-D7B6-4E8F-A47A-3BD1DC1A049A}" dt="2026-05-03T17:55:59.097" v="55" actId="20577"/>
          <ac:spMkLst>
            <pc:docMk/>
            <pc:sldMk cId="0" sldId="256"/>
            <ac:spMk id="11" creationId="{00000000-0000-0000-0000-000000000000}"/>
          </ac:spMkLst>
        </pc:spChg>
      </pc:sldChg>
      <pc:sldChg chg="modSp mod">
        <pc:chgData name="Vignesh Jaganathan" userId="9c97c70d3bc6f0d3" providerId="LiveId" clId="{7539CEB7-D7B6-4E8F-A47A-3BD1DC1A049A}" dt="2026-05-03T17:56:35.667" v="56" actId="1076"/>
        <pc:sldMkLst>
          <pc:docMk/>
          <pc:sldMk cId="0" sldId="260"/>
        </pc:sldMkLst>
        <pc:spChg chg="mod">
          <ac:chgData name="Vignesh Jaganathan" userId="9c97c70d3bc6f0d3" providerId="LiveId" clId="{7539CEB7-D7B6-4E8F-A47A-3BD1DC1A049A}" dt="2026-05-03T17:56:35.667" v="56" actId="1076"/>
          <ac:spMkLst>
            <pc:docMk/>
            <pc:sldMk cId="0" sldId="260"/>
            <ac:spMk id="10" creationId="{00000000-0000-0000-0000-000000000000}"/>
          </ac:spMkLst>
        </pc:spChg>
      </pc:sldChg>
      <pc:sldChg chg="addSp delSp modSp mod">
        <pc:chgData name="Vignesh Jaganathan" userId="9c97c70d3bc6f0d3" providerId="LiveId" clId="{7539CEB7-D7B6-4E8F-A47A-3BD1DC1A049A}" dt="2026-05-03T18:28:55.252" v="334" actId="21"/>
        <pc:sldMkLst>
          <pc:docMk/>
          <pc:sldMk cId="0" sldId="265"/>
        </pc:sldMkLst>
        <pc:spChg chg="mod">
          <ac:chgData name="Vignesh Jaganathan" userId="9c97c70d3bc6f0d3" providerId="LiveId" clId="{7539CEB7-D7B6-4E8F-A47A-3BD1DC1A049A}" dt="2026-05-03T17:59:58.201" v="65" actId="1076"/>
          <ac:spMkLst>
            <pc:docMk/>
            <pc:sldMk cId="0" sldId="265"/>
            <ac:spMk id="3" creationId="{00000000-0000-0000-0000-000000000000}"/>
          </ac:spMkLst>
        </pc:spChg>
        <pc:spChg chg="mod">
          <ac:chgData name="Vignesh Jaganathan" userId="9c97c70d3bc6f0d3" providerId="LiveId" clId="{7539CEB7-D7B6-4E8F-A47A-3BD1DC1A049A}" dt="2026-05-03T17:59:16.602" v="64" actId="113"/>
          <ac:spMkLst>
            <pc:docMk/>
            <pc:sldMk cId="0" sldId="265"/>
            <ac:spMk id="4" creationId="{00000000-0000-0000-0000-000000000000}"/>
          </ac:spMkLst>
        </pc:spChg>
        <pc:spChg chg="add mod">
          <ac:chgData name="Vignesh Jaganathan" userId="9c97c70d3bc6f0d3" providerId="LiveId" clId="{7539CEB7-D7B6-4E8F-A47A-3BD1DC1A049A}" dt="2026-05-03T18:24:44.661" v="316" actId="2085"/>
          <ac:spMkLst>
            <pc:docMk/>
            <pc:sldMk cId="0" sldId="265"/>
            <ac:spMk id="8" creationId="{3CA4E514-90B8-30B8-B28F-DEC7626A9020}"/>
          </ac:spMkLst>
        </pc:spChg>
        <pc:spChg chg="add mod">
          <ac:chgData name="Vignesh Jaganathan" userId="9c97c70d3bc6f0d3" providerId="LiveId" clId="{7539CEB7-D7B6-4E8F-A47A-3BD1DC1A049A}" dt="2026-05-03T18:25:37.144" v="320" actId="1076"/>
          <ac:spMkLst>
            <pc:docMk/>
            <pc:sldMk cId="0" sldId="265"/>
            <ac:spMk id="9" creationId="{262AC531-F379-E917-DCEE-66735E58EDCD}"/>
          </ac:spMkLst>
        </pc:spChg>
        <pc:spChg chg="add mod">
          <ac:chgData name="Vignesh Jaganathan" userId="9c97c70d3bc6f0d3" providerId="LiveId" clId="{7539CEB7-D7B6-4E8F-A47A-3BD1DC1A049A}" dt="2026-05-03T18:25:25.140" v="319" actId="13822"/>
          <ac:spMkLst>
            <pc:docMk/>
            <pc:sldMk cId="0" sldId="265"/>
            <ac:spMk id="10" creationId="{13A81E09-06BC-DBFC-A19A-A4E233205C8B}"/>
          </ac:spMkLst>
        </pc:spChg>
        <pc:spChg chg="add del mod">
          <ac:chgData name="Vignesh Jaganathan" userId="9c97c70d3bc6f0d3" providerId="LiveId" clId="{7539CEB7-D7B6-4E8F-A47A-3BD1DC1A049A}" dt="2026-05-03T18:28:55.252" v="334" actId="21"/>
          <ac:spMkLst>
            <pc:docMk/>
            <pc:sldMk cId="0" sldId="265"/>
            <ac:spMk id="11" creationId="{53B125B9-E7C9-FC1E-357D-F9FFF0ABDB59}"/>
          </ac:spMkLst>
        </pc:spChg>
        <pc:picChg chg="del mod">
          <ac:chgData name="Vignesh Jaganathan" userId="9c97c70d3bc6f0d3" providerId="LiveId" clId="{7539CEB7-D7B6-4E8F-A47A-3BD1DC1A049A}" dt="2026-05-03T18:17:30.049" v="137" actId="478"/>
          <ac:picMkLst>
            <pc:docMk/>
            <pc:sldMk cId="0" sldId="265"/>
            <ac:picMk id="6" creationId="{00000000-0000-0000-0000-000000000000}"/>
          </ac:picMkLst>
        </pc:picChg>
      </pc:sldChg>
      <pc:sldChg chg="modSp mod">
        <pc:chgData name="Vignesh Jaganathan" userId="9c97c70d3bc6f0d3" providerId="LiveId" clId="{7539CEB7-D7B6-4E8F-A47A-3BD1DC1A049A}" dt="2026-05-03T18:00:56.111" v="68" actId="2711"/>
        <pc:sldMkLst>
          <pc:docMk/>
          <pc:sldMk cId="0" sldId="266"/>
        </pc:sldMkLst>
        <pc:spChg chg="mod">
          <ac:chgData name="Vignesh Jaganathan" userId="9c97c70d3bc6f0d3" providerId="LiveId" clId="{7539CEB7-D7B6-4E8F-A47A-3BD1DC1A049A}" dt="2026-05-03T18:00:31.062" v="66" actId="14100"/>
          <ac:spMkLst>
            <pc:docMk/>
            <pc:sldMk cId="0" sldId="266"/>
            <ac:spMk id="9" creationId="{00000000-0000-0000-0000-000000000000}"/>
          </ac:spMkLst>
        </pc:spChg>
        <pc:spChg chg="mod">
          <ac:chgData name="Vignesh Jaganathan" userId="9c97c70d3bc6f0d3" providerId="LiveId" clId="{7539CEB7-D7B6-4E8F-A47A-3BD1DC1A049A}" dt="2026-05-03T18:00:56.111" v="68" actId="2711"/>
          <ac:spMkLst>
            <pc:docMk/>
            <pc:sldMk cId="0" sldId="266"/>
            <ac:spMk id="10" creationId="{00000000-0000-0000-0000-000000000000}"/>
          </ac:spMkLst>
        </pc:spChg>
      </pc:sldChg>
      <pc:sldChg chg="addSp delSp modSp mod">
        <pc:chgData name="Vignesh Jaganathan" userId="9c97c70d3bc6f0d3" providerId="LiveId" clId="{7539CEB7-D7B6-4E8F-A47A-3BD1DC1A049A}" dt="2026-05-03T18:29:09.016" v="336" actId="1076"/>
        <pc:sldMkLst>
          <pc:docMk/>
          <pc:sldMk cId="0" sldId="267"/>
        </pc:sldMkLst>
        <pc:spChg chg="mod">
          <ac:chgData name="Vignesh Jaganathan" userId="9c97c70d3bc6f0d3" providerId="LiveId" clId="{7539CEB7-D7B6-4E8F-A47A-3BD1DC1A049A}" dt="2026-05-03T18:26:31.267" v="321" actId="113"/>
          <ac:spMkLst>
            <pc:docMk/>
            <pc:sldMk cId="0" sldId="267"/>
            <ac:spMk id="10" creationId="{00000000-0000-0000-0000-000000000000}"/>
          </ac:spMkLst>
        </pc:spChg>
        <pc:spChg chg="del mod">
          <ac:chgData name="Vignesh Jaganathan" userId="9c97c70d3bc6f0d3" providerId="LiveId" clId="{7539CEB7-D7B6-4E8F-A47A-3BD1DC1A049A}" dt="2026-05-03T18:28:40.222" v="331" actId="478"/>
          <ac:spMkLst>
            <pc:docMk/>
            <pc:sldMk cId="0" sldId="267"/>
            <ac:spMk id="11" creationId="{00000000-0000-0000-0000-000000000000}"/>
          </ac:spMkLst>
        </pc:spChg>
        <pc:spChg chg="add mod">
          <ac:chgData name="Vignesh Jaganathan" userId="9c97c70d3bc6f0d3" providerId="LiveId" clId="{7539CEB7-D7B6-4E8F-A47A-3BD1DC1A049A}" dt="2026-05-03T18:29:09.016" v="336" actId="1076"/>
          <ac:spMkLst>
            <pc:docMk/>
            <pc:sldMk cId="0" sldId="267"/>
            <ac:spMk id="12" creationId="{53B125B9-E7C9-FC1E-357D-F9FFF0ABDB59}"/>
          </ac:spMkLst>
        </pc:spChg>
      </pc:sldChg>
      <pc:sldChg chg="addSp delSp modSp mod">
        <pc:chgData name="Vignesh Jaganathan" userId="9c97c70d3bc6f0d3" providerId="LiveId" clId="{7539CEB7-D7B6-4E8F-A47A-3BD1DC1A049A}" dt="2026-05-03T18:29:22.903" v="340" actId="1076"/>
        <pc:sldMkLst>
          <pc:docMk/>
          <pc:sldMk cId="0" sldId="268"/>
        </pc:sldMkLst>
        <pc:spChg chg="mod">
          <ac:chgData name="Vignesh Jaganathan" userId="9c97c70d3bc6f0d3" providerId="LiveId" clId="{7539CEB7-D7B6-4E8F-A47A-3BD1DC1A049A}" dt="2026-05-03T18:26:53.320" v="326" actId="1037"/>
          <ac:spMkLst>
            <pc:docMk/>
            <pc:sldMk cId="0" sldId="268"/>
            <ac:spMk id="10" creationId="{00000000-0000-0000-0000-000000000000}"/>
          </ac:spMkLst>
        </pc:spChg>
        <pc:spChg chg="del mod">
          <ac:chgData name="Vignesh Jaganathan" userId="9c97c70d3bc6f0d3" providerId="LiveId" clId="{7539CEB7-D7B6-4E8F-A47A-3BD1DC1A049A}" dt="2026-05-03T18:29:16.890" v="338" actId="478"/>
          <ac:spMkLst>
            <pc:docMk/>
            <pc:sldMk cId="0" sldId="268"/>
            <ac:spMk id="11" creationId="{00000000-0000-0000-0000-000000000000}"/>
          </ac:spMkLst>
        </pc:spChg>
        <pc:spChg chg="add mod">
          <ac:chgData name="Vignesh Jaganathan" userId="9c97c70d3bc6f0d3" providerId="LiveId" clId="{7539CEB7-D7B6-4E8F-A47A-3BD1DC1A049A}" dt="2026-05-03T18:29:22.903" v="340" actId="1076"/>
          <ac:spMkLst>
            <pc:docMk/>
            <pc:sldMk cId="0" sldId="268"/>
            <ac:spMk id="12" creationId="{E1879FDD-4A45-3305-045E-7417810CE070}"/>
          </ac:spMkLst>
        </pc:spChg>
      </pc:sldChg>
      <pc:sldChg chg="modSp mod">
        <pc:chgData name="Vignesh Jaganathan" userId="9c97c70d3bc6f0d3" providerId="LiveId" clId="{7539CEB7-D7B6-4E8F-A47A-3BD1DC1A049A}" dt="2026-05-03T18:27:02.486" v="328" actId="1076"/>
        <pc:sldMkLst>
          <pc:docMk/>
          <pc:sldMk cId="0" sldId="269"/>
        </pc:sldMkLst>
        <pc:grpChg chg="mod">
          <ac:chgData name="Vignesh Jaganathan" userId="9c97c70d3bc6f0d3" providerId="LiveId" clId="{7539CEB7-D7B6-4E8F-A47A-3BD1DC1A049A}" dt="2026-05-03T18:27:02.486" v="328" actId="1076"/>
          <ac:grpSpMkLst>
            <pc:docMk/>
            <pc:sldMk cId="0" sldId="269"/>
            <ac:grpSpMk id="4" creationId="{00000000-0000-0000-0000-000000000000}"/>
          </ac:grpSpMkLst>
        </pc:grpChg>
        <pc:grpChg chg="mod">
          <ac:chgData name="Vignesh Jaganathan" userId="9c97c70d3bc6f0d3" providerId="LiveId" clId="{7539CEB7-D7B6-4E8F-A47A-3BD1DC1A049A}" dt="2026-05-03T18:26:59.581" v="327" actId="1076"/>
          <ac:grpSpMkLst>
            <pc:docMk/>
            <pc:sldMk cId="0" sldId="269"/>
            <ac:grpSpMk id="6" creationId="{00000000-0000-0000-0000-000000000000}"/>
          </ac:grpSpMkLst>
        </pc:grpChg>
      </pc:sldChg>
      <pc:sldChg chg="modSp mod">
        <pc:chgData name="Vignesh Jaganathan" userId="9c97c70d3bc6f0d3" providerId="LiveId" clId="{7539CEB7-D7B6-4E8F-A47A-3BD1DC1A049A}" dt="2026-05-03T18:13:25.663" v="120" actId="339"/>
        <pc:sldMkLst>
          <pc:docMk/>
          <pc:sldMk cId="0" sldId="270"/>
        </pc:sldMkLst>
        <pc:spChg chg="mod">
          <ac:chgData name="Vignesh Jaganathan" userId="9c97c70d3bc6f0d3" providerId="LiveId" clId="{7539CEB7-D7B6-4E8F-A47A-3BD1DC1A049A}" dt="2026-05-03T18:13:25.663" v="120" actId="339"/>
          <ac:spMkLst>
            <pc:docMk/>
            <pc:sldMk cId="0" sldId="270"/>
            <ac:spMk id="2" creationId="{00000000-0000-0000-0000-000000000000}"/>
          </ac:spMkLst>
        </pc:spChg>
      </pc:sldChg>
      <pc:sldChg chg="addSp delSp modSp mod ord">
        <pc:chgData name="Vignesh Jaganathan" userId="9c97c70d3bc6f0d3" providerId="LiveId" clId="{7539CEB7-D7B6-4E8F-A47A-3BD1DC1A049A}" dt="2026-05-03T18:29:32.217" v="342"/>
        <pc:sldMkLst>
          <pc:docMk/>
          <pc:sldMk cId="0" sldId="271"/>
        </pc:sldMkLst>
        <pc:spChg chg="add del">
          <ac:chgData name="Vignesh Jaganathan" userId="9c97c70d3bc6f0d3" providerId="LiveId" clId="{7539CEB7-D7B6-4E8F-A47A-3BD1DC1A049A}" dt="2026-05-03T18:17:05.183" v="133" actId="478"/>
          <ac:spMkLst>
            <pc:docMk/>
            <pc:sldMk cId="0" sldId="271"/>
            <ac:spMk id="2" creationId="{00000000-0000-0000-0000-000000000000}"/>
          </ac:spMkLst>
        </pc:spChg>
        <pc:spChg chg="del">
          <ac:chgData name="Vignesh Jaganathan" userId="9c97c70d3bc6f0d3" providerId="LiveId" clId="{7539CEB7-D7B6-4E8F-A47A-3BD1DC1A049A}" dt="2026-05-03T18:16:49.130" v="127" actId="478"/>
          <ac:spMkLst>
            <pc:docMk/>
            <pc:sldMk cId="0" sldId="271"/>
            <ac:spMk id="6" creationId="{00000000-0000-0000-0000-000000000000}"/>
          </ac:spMkLst>
        </pc:spChg>
        <pc:spChg chg="del">
          <ac:chgData name="Vignesh Jaganathan" userId="9c97c70d3bc6f0d3" providerId="LiveId" clId="{7539CEB7-D7B6-4E8F-A47A-3BD1DC1A049A}" dt="2026-05-03T18:16:52.054" v="128" actId="478"/>
          <ac:spMkLst>
            <pc:docMk/>
            <pc:sldMk cId="0" sldId="271"/>
            <ac:spMk id="7" creationId="{00000000-0000-0000-0000-000000000000}"/>
          </ac:spMkLst>
        </pc:spChg>
        <pc:spChg chg="del">
          <ac:chgData name="Vignesh Jaganathan" userId="9c97c70d3bc6f0d3" providerId="LiveId" clId="{7539CEB7-D7B6-4E8F-A47A-3BD1DC1A049A}" dt="2026-05-03T18:16:55.743" v="129" actId="478"/>
          <ac:spMkLst>
            <pc:docMk/>
            <pc:sldMk cId="0" sldId="271"/>
            <ac:spMk id="8" creationId="{00000000-0000-0000-0000-000000000000}"/>
          </ac:spMkLst>
        </pc:spChg>
        <pc:spChg chg="del">
          <ac:chgData name="Vignesh Jaganathan" userId="9c97c70d3bc6f0d3" providerId="LiveId" clId="{7539CEB7-D7B6-4E8F-A47A-3BD1DC1A049A}" dt="2026-05-03T18:16:58.292" v="130" actId="478"/>
          <ac:spMkLst>
            <pc:docMk/>
            <pc:sldMk cId="0" sldId="271"/>
            <ac:spMk id="9" creationId="{00000000-0000-0000-0000-000000000000}"/>
          </ac:spMkLst>
        </pc:spChg>
        <pc:spChg chg="del">
          <ac:chgData name="Vignesh Jaganathan" userId="9c97c70d3bc6f0d3" providerId="LiveId" clId="{7539CEB7-D7B6-4E8F-A47A-3BD1DC1A049A}" dt="2026-05-03T18:17:09.367" v="134" actId="478"/>
          <ac:spMkLst>
            <pc:docMk/>
            <pc:sldMk cId="0" sldId="271"/>
            <ac:spMk id="10" creationId="{00000000-0000-0000-0000-000000000000}"/>
          </ac:spMkLst>
        </pc:spChg>
        <pc:spChg chg="del">
          <ac:chgData name="Vignesh Jaganathan" userId="9c97c70d3bc6f0d3" providerId="LiveId" clId="{7539CEB7-D7B6-4E8F-A47A-3BD1DC1A049A}" dt="2026-05-03T18:16:25.988" v="123" actId="478"/>
          <ac:spMkLst>
            <pc:docMk/>
            <pc:sldMk cId="0" sldId="271"/>
            <ac:spMk id="11" creationId="{00000000-0000-0000-0000-000000000000}"/>
          </ac:spMkLst>
        </pc:spChg>
        <pc:spChg chg="del">
          <ac:chgData name="Vignesh Jaganathan" userId="9c97c70d3bc6f0d3" providerId="LiveId" clId="{7539CEB7-D7B6-4E8F-A47A-3BD1DC1A049A}" dt="2026-05-03T18:17:01.833" v="131" actId="478"/>
          <ac:spMkLst>
            <pc:docMk/>
            <pc:sldMk cId="0" sldId="271"/>
            <ac:spMk id="12" creationId="{00000000-0000-0000-0000-000000000000}"/>
          </ac:spMkLst>
        </pc:spChg>
        <pc:spChg chg="del mod">
          <ac:chgData name="Vignesh Jaganathan" userId="9c97c70d3bc6f0d3" providerId="LiveId" clId="{7539CEB7-D7B6-4E8F-A47A-3BD1DC1A049A}" dt="2026-05-03T18:17:15.452" v="136" actId="478"/>
          <ac:spMkLst>
            <pc:docMk/>
            <pc:sldMk cId="0" sldId="271"/>
            <ac:spMk id="1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2.jpeg"/><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0.jpe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4.jpeg"/><Relationship Id="rId4" Type="http://schemas.openxmlformats.org/officeDocument/2006/relationships/image" Target="../media/image23.jpe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10.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8.jpeg"/><Relationship Id="rId4" Type="http://schemas.openxmlformats.org/officeDocument/2006/relationships/image" Target="../media/image27.jpe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0.jpeg"/><Relationship Id="rId4" Type="http://schemas.openxmlformats.org/officeDocument/2006/relationships/image" Target="../media/image29.jpeg"/></Relationships>
</file>

<file path=ppt/slides/_rels/slide1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33.jpeg"/></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txBody>
          <a:bodyPr/>
          <a:lstStyle/>
          <a:p>
            <a:endParaRPr lang="en-IN"/>
          </a:p>
        </p:txBody>
      </p:sp>
      <p:sp>
        <p:nvSpPr>
          <p:cNvPr id="3" name="Freeform 3"/>
          <p:cNvSpPr/>
          <p:nvPr/>
        </p:nvSpPr>
        <p:spPr>
          <a:xfrm>
            <a:off x="1010580" y="1099976"/>
            <a:ext cx="329201" cy="244935"/>
          </a:xfrm>
          <a:custGeom>
            <a:avLst/>
            <a:gdLst/>
            <a:ahLst/>
            <a:cxnLst/>
            <a:rect l="l" t="t" r="r" b="b"/>
            <a:pathLst>
              <a:path w="329201" h="244935">
                <a:moveTo>
                  <a:pt x="0" y="0"/>
                </a:moveTo>
                <a:lnTo>
                  <a:pt x="329201" y="0"/>
                </a:lnTo>
                <a:lnTo>
                  <a:pt x="329201" y="244935"/>
                </a:lnTo>
                <a:lnTo>
                  <a:pt x="0" y="244935"/>
                </a:lnTo>
                <a:lnTo>
                  <a:pt x="0" y="0"/>
                </a:lnTo>
                <a:close/>
              </a:path>
            </a:pathLst>
          </a:custGeom>
          <a:blipFill>
            <a:blip r:embed="rId3"/>
            <a:stretch>
              <a:fillRect/>
            </a:stretch>
          </a:blipFill>
        </p:spPr>
        <p:txBody>
          <a:bodyPr/>
          <a:lstStyle/>
          <a:p>
            <a:endParaRPr lang="en-IN"/>
          </a:p>
        </p:txBody>
      </p:sp>
      <p:grpSp>
        <p:nvGrpSpPr>
          <p:cNvPr id="4" name="Group 4"/>
          <p:cNvGrpSpPr/>
          <p:nvPr/>
        </p:nvGrpSpPr>
        <p:grpSpPr>
          <a:xfrm>
            <a:off x="10953156" y="2928566"/>
            <a:ext cx="5253409" cy="4549216"/>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3536" r="-3536"/>
              </a:stretch>
            </a:blipFill>
            <a:ln w="180975" cap="sq">
              <a:solidFill>
                <a:srgbClr val="FFFFFF"/>
              </a:solidFill>
              <a:prstDash val="solid"/>
              <a:miter/>
            </a:ln>
          </p:spPr>
          <p:txBody>
            <a:bodyPr/>
            <a:lstStyle/>
            <a:p>
              <a:endParaRPr lang="en-IN"/>
            </a:p>
          </p:txBody>
        </p:sp>
      </p:grpSp>
      <p:sp>
        <p:nvSpPr>
          <p:cNvPr id="6" name="TextBox 6"/>
          <p:cNvSpPr txBox="1"/>
          <p:nvPr/>
        </p:nvSpPr>
        <p:spPr>
          <a:xfrm>
            <a:off x="1028700" y="2706929"/>
            <a:ext cx="9518732" cy="3873290"/>
          </a:xfrm>
          <a:prstGeom prst="rect">
            <a:avLst/>
          </a:prstGeom>
        </p:spPr>
        <p:txBody>
          <a:bodyPr lIns="0" tIns="0" rIns="0" bIns="0" rtlCol="0" anchor="t">
            <a:spAutoFit/>
          </a:bodyPr>
          <a:lstStyle/>
          <a:p>
            <a:pPr marL="0" lvl="0" indent="0" algn="l">
              <a:lnSpc>
                <a:spcPts val="9953"/>
              </a:lnSpc>
            </a:pPr>
            <a:r>
              <a:rPr lang="en-US" sz="11183" b="1">
                <a:solidFill>
                  <a:srgbClr val="FFFFFF"/>
                </a:solidFill>
                <a:latin typeface="Barlow Bold"/>
                <a:ea typeface="Barlow Bold"/>
                <a:cs typeface="Barlow Bold"/>
                <a:sym typeface="Barlow Bold"/>
              </a:rPr>
              <a:t>CREDIT CARD EXPENDITURE FORECASTING</a:t>
            </a:r>
          </a:p>
        </p:txBody>
      </p:sp>
      <p:grpSp>
        <p:nvGrpSpPr>
          <p:cNvPr id="7" name="Group 7"/>
          <p:cNvGrpSpPr/>
          <p:nvPr/>
        </p:nvGrpSpPr>
        <p:grpSpPr>
          <a:xfrm>
            <a:off x="14768117" y="1028700"/>
            <a:ext cx="3265883" cy="2828107"/>
            <a:chOff x="0" y="0"/>
            <a:chExt cx="4282440" cy="3708400"/>
          </a:xfrm>
        </p:grpSpPr>
        <p:sp>
          <p:nvSpPr>
            <p:cNvPr id="8" name="Freeform 8"/>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5"/>
              <a:stretch>
                <a:fillRect l="-3536" r="-3536"/>
              </a:stretch>
            </a:blipFill>
            <a:ln w="85725" cap="sq">
              <a:solidFill>
                <a:srgbClr val="FFFFFF"/>
              </a:solidFill>
              <a:prstDash val="solid"/>
              <a:miter/>
            </a:ln>
          </p:spPr>
          <p:txBody>
            <a:bodyPr/>
            <a:lstStyle/>
            <a:p>
              <a:endParaRPr lang="en-IN"/>
            </a:p>
          </p:txBody>
        </p:sp>
      </p:grpSp>
      <p:grpSp>
        <p:nvGrpSpPr>
          <p:cNvPr id="9" name="Group 9"/>
          <p:cNvGrpSpPr/>
          <p:nvPr/>
        </p:nvGrpSpPr>
        <p:grpSpPr>
          <a:xfrm>
            <a:off x="8890000" y="6063728"/>
            <a:ext cx="3265883" cy="2828107"/>
            <a:chOff x="0" y="0"/>
            <a:chExt cx="4282440" cy="3708400"/>
          </a:xfrm>
        </p:grpSpPr>
        <p:sp>
          <p:nvSpPr>
            <p:cNvPr id="10" name="Freeform 10"/>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6"/>
              <a:stretch>
                <a:fillRect l="-3536" r="-3536"/>
              </a:stretch>
            </a:blipFill>
            <a:ln w="85725" cap="sq">
              <a:solidFill>
                <a:srgbClr val="FFFFFF"/>
              </a:solidFill>
              <a:prstDash val="solid"/>
              <a:miter/>
            </a:ln>
          </p:spPr>
          <p:txBody>
            <a:bodyPr/>
            <a:lstStyle/>
            <a:p>
              <a:endParaRPr lang="en-IN"/>
            </a:p>
          </p:txBody>
        </p:sp>
      </p:grpSp>
      <p:sp>
        <p:nvSpPr>
          <p:cNvPr id="11" name="TextBox 11"/>
          <p:cNvSpPr txBox="1"/>
          <p:nvPr/>
        </p:nvSpPr>
        <p:spPr>
          <a:xfrm>
            <a:off x="1010580" y="7292148"/>
            <a:ext cx="8895420" cy="2752292"/>
          </a:xfrm>
          <a:prstGeom prst="rect">
            <a:avLst/>
          </a:prstGeom>
        </p:spPr>
        <p:txBody>
          <a:bodyPr wrap="square" lIns="0" tIns="0" rIns="0" bIns="0" rtlCol="0" anchor="t">
            <a:spAutoFit/>
          </a:bodyPr>
          <a:lstStyle/>
          <a:p>
            <a:pPr marL="0" lvl="0" indent="0" algn="just">
              <a:lnSpc>
                <a:spcPts val="2413"/>
              </a:lnSpc>
              <a:spcBef>
                <a:spcPct val="0"/>
              </a:spcBef>
            </a:pPr>
            <a:r>
              <a:rPr lang="en-US" sz="1871" u="none" strike="noStrike" spc="-102" dirty="0">
                <a:solidFill>
                  <a:srgbClr val="FFFFFF"/>
                </a:solidFill>
                <a:latin typeface="Montserrat"/>
                <a:ea typeface="Montserrat"/>
                <a:cs typeface="Montserrat"/>
                <a:sym typeface="Montserrat"/>
              </a:rPr>
              <a:t>Enhancing Marketing to Boost Average Credit Card Spending</a:t>
            </a:r>
          </a:p>
          <a:p>
            <a:pPr marL="0" lvl="0" indent="0" algn="just">
              <a:lnSpc>
                <a:spcPts val="2413"/>
              </a:lnSpc>
              <a:spcBef>
                <a:spcPct val="0"/>
              </a:spcBef>
            </a:pPr>
            <a:endParaRPr lang="en-US" sz="1871" u="none" strike="noStrike" spc="-102" dirty="0">
              <a:solidFill>
                <a:srgbClr val="FFFFFF"/>
              </a:solidFill>
              <a:latin typeface="Montserrat"/>
              <a:ea typeface="Montserrat"/>
              <a:cs typeface="Montserrat"/>
              <a:sym typeface="Montserrat"/>
            </a:endParaRPr>
          </a:p>
          <a:p>
            <a:pPr marL="0" lvl="0" indent="0" algn="just">
              <a:lnSpc>
                <a:spcPts val="2413"/>
              </a:lnSpc>
              <a:spcBef>
                <a:spcPct val="0"/>
              </a:spcBef>
            </a:pPr>
            <a:endParaRPr lang="en-US" sz="1871" spc="-102" dirty="0">
              <a:solidFill>
                <a:srgbClr val="FFFFFF"/>
              </a:solidFill>
              <a:latin typeface="Montserrat"/>
              <a:ea typeface="Montserrat"/>
              <a:cs typeface="Montserrat"/>
              <a:sym typeface="Montserrat"/>
            </a:endParaRPr>
          </a:p>
          <a:p>
            <a:pPr marL="0" lvl="0" indent="0" algn="just">
              <a:lnSpc>
                <a:spcPts val="2413"/>
              </a:lnSpc>
              <a:spcBef>
                <a:spcPct val="0"/>
              </a:spcBef>
            </a:pPr>
            <a:endParaRPr lang="en-US" sz="1871" u="none" strike="noStrike" spc="-102" dirty="0">
              <a:solidFill>
                <a:srgbClr val="FFFFFF"/>
              </a:solidFill>
              <a:latin typeface="Montserrat"/>
              <a:ea typeface="Montserrat"/>
              <a:cs typeface="Montserrat"/>
              <a:sym typeface="Montserrat"/>
            </a:endParaRPr>
          </a:p>
          <a:p>
            <a:pPr marL="0" lvl="0" indent="0" algn="just">
              <a:lnSpc>
                <a:spcPts val="2413"/>
              </a:lnSpc>
              <a:spcBef>
                <a:spcPct val="0"/>
              </a:spcBef>
            </a:pPr>
            <a:endParaRPr lang="en-US" sz="1871" spc="-102" dirty="0">
              <a:solidFill>
                <a:srgbClr val="FFFFFF"/>
              </a:solidFill>
              <a:latin typeface="Montserrat"/>
              <a:ea typeface="Montserrat"/>
              <a:cs typeface="Montserrat"/>
              <a:sym typeface="Montserrat"/>
            </a:endParaRPr>
          </a:p>
          <a:p>
            <a:pPr marL="0" lvl="0" indent="0" algn="just">
              <a:lnSpc>
                <a:spcPts val="2413"/>
              </a:lnSpc>
              <a:spcBef>
                <a:spcPct val="0"/>
              </a:spcBef>
            </a:pPr>
            <a:endParaRPr lang="en-US" sz="1871" u="none" strike="noStrike" spc="-102" dirty="0">
              <a:solidFill>
                <a:srgbClr val="FFFFFF"/>
              </a:solidFill>
              <a:latin typeface="Montserrat"/>
              <a:ea typeface="Montserrat"/>
              <a:cs typeface="Montserrat"/>
              <a:sym typeface="Montserrat"/>
            </a:endParaRPr>
          </a:p>
          <a:p>
            <a:pPr marL="0" lvl="0" indent="0" algn="just">
              <a:lnSpc>
                <a:spcPts val="2413"/>
              </a:lnSpc>
              <a:spcBef>
                <a:spcPct val="0"/>
              </a:spcBef>
            </a:pPr>
            <a:endParaRPr lang="en-US" sz="1871" spc="-102" dirty="0">
              <a:solidFill>
                <a:srgbClr val="FFFFFF"/>
              </a:solidFill>
              <a:latin typeface="Montserrat"/>
              <a:ea typeface="Montserrat"/>
              <a:cs typeface="Montserrat"/>
              <a:sym typeface="Montserrat"/>
            </a:endParaRPr>
          </a:p>
          <a:p>
            <a:pPr marL="0" lvl="0" indent="0" algn="just">
              <a:lnSpc>
                <a:spcPts val="2413"/>
              </a:lnSpc>
              <a:spcBef>
                <a:spcPct val="0"/>
              </a:spcBef>
            </a:pPr>
            <a:endParaRPr lang="en-US" sz="1871" u="none" strike="noStrike" spc="-102" dirty="0">
              <a:solidFill>
                <a:srgbClr val="FFFFFF"/>
              </a:solidFill>
              <a:latin typeface="Montserrat"/>
              <a:ea typeface="Montserrat"/>
              <a:cs typeface="Montserrat"/>
              <a:sym typeface="Montserrat"/>
            </a:endParaRPr>
          </a:p>
          <a:p>
            <a:pPr marL="0" lvl="0" indent="0" algn="just">
              <a:lnSpc>
                <a:spcPts val="2413"/>
              </a:lnSpc>
              <a:spcBef>
                <a:spcPct val="0"/>
              </a:spcBef>
            </a:pPr>
            <a:r>
              <a:rPr lang="en-US" sz="1871" u="none" strike="noStrike" spc="-102" dirty="0">
                <a:solidFill>
                  <a:srgbClr val="FFFFFF"/>
                </a:solidFill>
                <a:latin typeface="Montserrat"/>
                <a:ea typeface="Montserrat"/>
                <a:cs typeface="Montserrat"/>
                <a:sym typeface="Montserrat"/>
              </a:rPr>
              <a:t>Presented by </a:t>
            </a:r>
            <a:r>
              <a:rPr lang="en-US" sz="1871" spc="-102" dirty="0">
                <a:solidFill>
                  <a:srgbClr val="FFFFFF"/>
                </a:solidFill>
                <a:latin typeface="Montserrat"/>
                <a:ea typeface="Montserrat"/>
                <a:cs typeface="Montserrat"/>
                <a:sym typeface="Montserrat"/>
              </a:rPr>
              <a:t> J  VIGNESH</a:t>
            </a:r>
          </a:p>
        </p:txBody>
      </p:sp>
      <p:sp>
        <p:nvSpPr>
          <p:cNvPr id="12" name="TextBox 12"/>
          <p:cNvSpPr txBox="1"/>
          <p:nvPr/>
        </p:nvSpPr>
        <p:spPr>
          <a:xfrm>
            <a:off x="1379852" y="1043352"/>
            <a:ext cx="1549500" cy="406889"/>
          </a:xfrm>
          <a:prstGeom prst="rect">
            <a:avLst/>
          </a:prstGeom>
        </p:spPr>
        <p:txBody>
          <a:bodyPr lIns="0" tIns="0" rIns="0" bIns="0" rtlCol="0" anchor="t">
            <a:spAutoFit/>
          </a:bodyPr>
          <a:lstStyle/>
          <a:p>
            <a:pPr marL="0" lvl="0" indent="0" algn="l">
              <a:lnSpc>
                <a:spcPts val="1507"/>
              </a:lnSpc>
            </a:pPr>
            <a:r>
              <a:rPr lang="en-US" sz="1753" b="1" spc="-96" dirty="0">
                <a:solidFill>
                  <a:srgbClr val="FFFFFF"/>
                </a:solidFill>
                <a:latin typeface="Montserrat Bold"/>
                <a:ea typeface="Montserrat Bold"/>
                <a:cs typeface="Montserrat Bold"/>
                <a:sym typeface="Montserrat Bold"/>
              </a:rPr>
              <a:t>FINANCIAL 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1028700" y="1076233"/>
            <a:ext cx="293554" cy="293554"/>
          </a:xfrm>
          <a:custGeom>
            <a:avLst/>
            <a:gdLst/>
            <a:ahLst/>
            <a:cxnLst/>
            <a:rect l="l" t="t" r="r" b="b"/>
            <a:pathLst>
              <a:path w="293554" h="293554">
                <a:moveTo>
                  <a:pt x="0" y="0"/>
                </a:moveTo>
                <a:lnTo>
                  <a:pt x="293554" y="0"/>
                </a:lnTo>
                <a:lnTo>
                  <a:pt x="293554" y="293554"/>
                </a:lnTo>
                <a:lnTo>
                  <a:pt x="0" y="293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0122337" y="2053356"/>
            <a:ext cx="7136963" cy="6180288"/>
            <a:chOff x="0" y="0"/>
            <a:chExt cx="4282440" cy="3708400"/>
          </a:xfrm>
        </p:grpSpPr>
        <p:sp>
          <p:nvSpPr>
            <p:cNvPr id="4" name="Freeform 4"/>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3536" r="-3536"/>
              </a:stretch>
            </a:blipFill>
            <a:ln w="180975" cap="sq">
              <a:solidFill>
                <a:srgbClr val="FFFFFF"/>
              </a:solidFill>
              <a:prstDash val="solid"/>
              <a:miter/>
            </a:ln>
          </p:spPr>
          <p:txBody>
            <a:bodyPr/>
            <a:lstStyle/>
            <a:p>
              <a:endParaRPr lang="en-IN"/>
            </a:p>
          </p:txBody>
        </p:sp>
      </p:grpSp>
      <p:sp>
        <p:nvSpPr>
          <p:cNvPr id="5" name="Freeform 5"/>
          <p:cNvSpPr/>
          <p:nvPr/>
        </p:nvSpPr>
        <p:spPr>
          <a:xfrm>
            <a:off x="-432037" y="8653250"/>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6" name="Freeform 6"/>
          <p:cNvSpPr/>
          <p:nvPr/>
        </p:nvSpPr>
        <p:spPr>
          <a:xfrm>
            <a:off x="12088642" y="390677"/>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TextBox 7"/>
          <p:cNvSpPr txBox="1"/>
          <p:nvPr/>
        </p:nvSpPr>
        <p:spPr>
          <a:xfrm>
            <a:off x="1028700" y="2602154"/>
            <a:ext cx="8669388" cy="991236"/>
          </a:xfrm>
          <a:prstGeom prst="rect">
            <a:avLst/>
          </a:prstGeom>
        </p:spPr>
        <p:txBody>
          <a:bodyPr lIns="0" tIns="0" rIns="0" bIns="0" rtlCol="0" anchor="t">
            <a:spAutoFit/>
          </a:bodyPr>
          <a:lstStyle/>
          <a:p>
            <a:pPr marL="0" lvl="0" indent="0" algn="l">
              <a:lnSpc>
                <a:spcPts val="7120"/>
              </a:lnSpc>
            </a:pPr>
            <a:r>
              <a:rPr lang="en-US" sz="8000" b="1">
                <a:solidFill>
                  <a:srgbClr val="FFFFFF"/>
                </a:solidFill>
                <a:latin typeface="Barlow Bold"/>
                <a:ea typeface="Barlow Bold"/>
                <a:cs typeface="Barlow Bold"/>
                <a:sym typeface="Barlow Bold"/>
              </a:rPr>
              <a:t>OBJECTIVE</a:t>
            </a:r>
          </a:p>
        </p:txBody>
      </p:sp>
      <p:sp>
        <p:nvSpPr>
          <p:cNvPr id="8" name="TextBox 8"/>
          <p:cNvSpPr txBox="1"/>
          <p:nvPr/>
        </p:nvSpPr>
        <p:spPr>
          <a:xfrm>
            <a:off x="1028700" y="4743108"/>
            <a:ext cx="8115300" cy="3225165"/>
          </a:xfrm>
          <a:prstGeom prst="rect">
            <a:avLst/>
          </a:prstGeom>
        </p:spPr>
        <p:txBody>
          <a:bodyPr lIns="0" tIns="0" rIns="0" bIns="0" rtlCol="0" anchor="t">
            <a:spAutoFit/>
          </a:bodyPr>
          <a:lstStyle/>
          <a:p>
            <a:pPr marL="0" lvl="0" indent="0" algn="just">
              <a:lnSpc>
                <a:spcPts val="2580"/>
              </a:lnSpc>
            </a:pPr>
            <a:r>
              <a:rPr lang="en-US" sz="2000" spc="-110">
                <a:solidFill>
                  <a:srgbClr val="FFFFFF"/>
                </a:solidFill>
                <a:latin typeface="Montserrat"/>
                <a:ea typeface="Montserrat"/>
                <a:cs typeface="Montserrat"/>
                <a:sym typeface="Montserrat"/>
              </a:rPr>
              <a:t>Enhance marketing efforts to increase average credit card spending among potential clients by leveraging data-driven insights for targeted strategic planning.</a:t>
            </a:r>
          </a:p>
          <a:p>
            <a:pPr marL="0" lvl="0" indent="0" algn="just">
              <a:lnSpc>
                <a:spcPts val="2580"/>
              </a:lnSpc>
            </a:pPr>
            <a:r>
              <a:rPr lang="en-US" sz="2000" spc="-110">
                <a:solidFill>
                  <a:srgbClr val="FFFFFF"/>
                </a:solidFill>
                <a:latin typeface="Montserrat"/>
                <a:ea typeface="Montserrat"/>
                <a:cs typeface="Montserrat"/>
                <a:sym typeface="Montserrat"/>
              </a:rPr>
              <a:t>Key Goals:</a:t>
            </a:r>
          </a:p>
          <a:p>
            <a:pPr marL="0" lvl="0" indent="0" algn="just">
              <a:lnSpc>
                <a:spcPts val="2580"/>
              </a:lnSpc>
            </a:pPr>
            <a:r>
              <a:rPr lang="en-US" sz="2000" spc="-110">
                <a:solidFill>
                  <a:srgbClr val="FFFFFF"/>
                </a:solidFill>
                <a:latin typeface="Montserrat"/>
                <a:ea typeface="Montserrat"/>
                <a:cs typeface="Montserrat"/>
                <a:sym typeface="Montserrat"/>
              </a:rPr>
              <a:t>• Identify high-potential customer segments for credit card usage</a:t>
            </a:r>
          </a:p>
          <a:p>
            <a:pPr marL="0" lvl="0" indent="0" algn="just">
              <a:lnSpc>
                <a:spcPts val="2580"/>
              </a:lnSpc>
            </a:pPr>
            <a:r>
              <a:rPr lang="en-US" sz="2000" spc="-110">
                <a:solidFill>
                  <a:srgbClr val="FFFFFF"/>
                </a:solidFill>
                <a:latin typeface="Montserrat"/>
                <a:ea typeface="Montserrat"/>
                <a:cs typeface="Montserrat"/>
                <a:sym typeface="Montserrat"/>
              </a:rPr>
              <a:t>• Develop predictive models to forecast spending behavior</a:t>
            </a:r>
          </a:p>
          <a:p>
            <a:pPr marL="0" lvl="0" indent="0" algn="just">
              <a:lnSpc>
                <a:spcPts val="2580"/>
              </a:lnSpc>
            </a:pPr>
            <a:r>
              <a:rPr lang="en-US" sz="2000" spc="-110">
                <a:solidFill>
                  <a:srgbClr val="FFFFFF"/>
                </a:solidFill>
                <a:latin typeface="Montserrat"/>
                <a:ea typeface="Montserrat"/>
                <a:cs typeface="Montserrat"/>
                <a:sym typeface="Montserrat"/>
              </a:rPr>
              <a:t>• Enable personalized marketing campaigns based on consumption patterns</a:t>
            </a:r>
          </a:p>
          <a:p>
            <a:pPr marL="0" lvl="0" indent="0" algn="just">
              <a:lnSpc>
                <a:spcPts val="2580"/>
              </a:lnSpc>
            </a:pPr>
            <a:r>
              <a:rPr lang="en-US" sz="2000" spc="-110">
                <a:solidFill>
                  <a:srgbClr val="FFFFFF"/>
                </a:solidFill>
                <a:latin typeface="Montserrat"/>
                <a:ea typeface="Montserrat"/>
                <a:cs typeface="Montserrat"/>
                <a:sym typeface="Montserrat"/>
              </a:rPr>
              <a:t>• Drive measurable increases in average credit card expenditure</a:t>
            </a:r>
          </a:p>
          <a:p>
            <a:pPr marL="0" lvl="0" indent="0" algn="just">
              <a:lnSpc>
                <a:spcPts val="2580"/>
              </a:lnSpc>
            </a:pPr>
            <a:r>
              <a:rPr lang="en-US" sz="2000" spc="-110">
                <a:solidFill>
                  <a:srgbClr val="FFFFFF"/>
                </a:solidFill>
                <a:latin typeface="Montserrat"/>
                <a:ea typeface="Montserrat"/>
                <a:cs typeface="Montserrat"/>
                <a:sym typeface="Montserrat"/>
              </a:rPr>
              <a:t>• Support business decisions with actionable analytics</a:t>
            </a:r>
          </a:p>
        </p:txBody>
      </p:sp>
      <p:sp>
        <p:nvSpPr>
          <p:cNvPr id="9" name="TextBox 9"/>
          <p:cNvSpPr txBox="1"/>
          <p:nvPr/>
        </p:nvSpPr>
        <p:spPr>
          <a:xfrm>
            <a:off x="1379852" y="1043352"/>
            <a:ext cx="1549500" cy="406942"/>
          </a:xfrm>
          <a:prstGeom prst="rect">
            <a:avLst/>
          </a:prstGeom>
        </p:spPr>
        <p:txBody>
          <a:bodyPr lIns="0" tIns="0" rIns="0" bIns="0" rtlCol="0" anchor="t">
            <a:spAutoFit/>
          </a:bodyPr>
          <a:lstStyle/>
          <a:p>
            <a:pPr marL="0" lvl="0" indent="0" algn="l">
              <a:lnSpc>
                <a:spcPts val="1508"/>
              </a:lnSpc>
            </a:pPr>
            <a:r>
              <a:rPr lang="en-US" sz="1754" b="1" spc="-96">
                <a:solidFill>
                  <a:srgbClr val="FFFFFF"/>
                </a:solidFill>
                <a:latin typeface="Montserrat Bold"/>
                <a:ea typeface="Montserrat Bold"/>
                <a:cs typeface="Montserrat Bold"/>
                <a:sym typeface="Montserrat Bold"/>
              </a:rPr>
              <a:t>CREDIT CARD FORECASTING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1028700" y="1076233"/>
            <a:ext cx="293554" cy="293554"/>
          </a:xfrm>
          <a:custGeom>
            <a:avLst/>
            <a:gdLst/>
            <a:ahLst/>
            <a:cxnLst/>
            <a:rect l="l" t="t" r="r" b="b"/>
            <a:pathLst>
              <a:path w="293554" h="293554">
                <a:moveTo>
                  <a:pt x="0" y="0"/>
                </a:moveTo>
                <a:lnTo>
                  <a:pt x="293554" y="0"/>
                </a:lnTo>
                <a:lnTo>
                  <a:pt x="293554" y="293554"/>
                </a:lnTo>
                <a:lnTo>
                  <a:pt x="0" y="293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028700" y="2350903"/>
            <a:ext cx="6419044" cy="641904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4"/>
              <a:stretch>
                <a:fillRect/>
              </a:stretch>
            </a:blipFill>
            <a:ln w="180975" cap="sq">
              <a:solidFill>
                <a:srgbClr val="FFFFFF"/>
              </a:solidFill>
              <a:prstDash val="solid"/>
              <a:miter/>
            </a:ln>
          </p:spPr>
          <p:txBody>
            <a:bodyPr/>
            <a:lstStyle/>
            <a:p>
              <a:endParaRPr lang="en-IN"/>
            </a:p>
          </p:txBody>
        </p:sp>
      </p:grpSp>
      <p:grpSp>
        <p:nvGrpSpPr>
          <p:cNvPr id="5" name="Group 5"/>
          <p:cNvGrpSpPr/>
          <p:nvPr/>
        </p:nvGrpSpPr>
        <p:grpSpPr>
          <a:xfrm>
            <a:off x="4238222" y="1450294"/>
            <a:ext cx="3689749" cy="368974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a:stretch>
            </a:blipFill>
            <a:ln w="180975" cap="sq">
              <a:solidFill>
                <a:srgbClr val="FFFFFF"/>
              </a:solidFill>
              <a:prstDash val="solid"/>
              <a:miter/>
            </a:ln>
          </p:spPr>
          <p:txBody>
            <a:bodyPr/>
            <a:lstStyle/>
            <a:p>
              <a:endParaRPr lang="en-IN"/>
            </a:p>
          </p:txBody>
        </p:sp>
      </p:grpSp>
      <p:sp>
        <p:nvSpPr>
          <p:cNvPr id="7" name="Freeform 7"/>
          <p:cNvSpPr/>
          <p:nvPr/>
        </p:nvSpPr>
        <p:spPr>
          <a:xfrm>
            <a:off x="12088642" y="451672"/>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8" name="Freeform 8"/>
          <p:cNvSpPr/>
          <p:nvPr/>
        </p:nvSpPr>
        <p:spPr>
          <a:xfrm>
            <a:off x="-432037" y="8846147"/>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9" name="TextBox 9"/>
          <p:cNvSpPr txBox="1"/>
          <p:nvPr/>
        </p:nvSpPr>
        <p:spPr>
          <a:xfrm>
            <a:off x="8589912" y="2569978"/>
            <a:ext cx="8669388" cy="1886586"/>
          </a:xfrm>
          <a:prstGeom prst="rect">
            <a:avLst/>
          </a:prstGeom>
        </p:spPr>
        <p:txBody>
          <a:bodyPr lIns="0" tIns="0" rIns="0" bIns="0" rtlCol="0" anchor="t">
            <a:spAutoFit/>
          </a:bodyPr>
          <a:lstStyle/>
          <a:p>
            <a:pPr marL="0" lvl="0" indent="0" algn="l">
              <a:lnSpc>
                <a:spcPts val="7120"/>
              </a:lnSpc>
            </a:pPr>
            <a:r>
              <a:rPr lang="en-US" sz="8000" b="1">
                <a:solidFill>
                  <a:srgbClr val="FFFFFF"/>
                </a:solidFill>
                <a:latin typeface="Barlow Bold"/>
                <a:ea typeface="Barlow Bold"/>
                <a:cs typeface="Barlow Bold"/>
                <a:sym typeface="Barlow Bold"/>
              </a:rPr>
              <a:t>BUSINESS</a:t>
            </a:r>
          </a:p>
          <a:p>
            <a:pPr marL="0" lvl="0" indent="0" algn="l">
              <a:lnSpc>
                <a:spcPts val="7120"/>
              </a:lnSpc>
            </a:pPr>
            <a:r>
              <a:rPr lang="en-US" sz="8000" b="1">
                <a:solidFill>
                  <a:srgbClr val="FFFFFF"/>
                </a:solidFill>
                <a:latin typeface="Barlow Bold"/>
                <a:ea typeface="Barlow Bold"/>
                <a:cs typeface="Barlow Bold"/>
                <a:sym typeface="Barlow Bold"/>
              </a:rPr>
              <a:t>PROBLEM</a:t>
            </a:r>
          </a:p>
        </p:txBody>
      </p:sp>
      <p:sp>
        <p:nvSpPr>
          <p:cNvPr id="10" name="TextBox 10"/>
          <p:cNvSpPr txBox="1"/>
          <p:nvPr/>
        </p:nvSpPr>
        <p:spPr>
          <a:xfrm>
            <a:off x="8589912" y="4710932"/>
            <a:ext cx="8115300" cy="3549015"/>
          </a:xfrm>
          <a:prstGeom prst="rect">
            <a:avLst/>
          </a:prstGeom>
        </p:spPr>
        <p:txBody>
          <a:bodyPr lIns="0" tIns="0" rIns="0" bIns="0" rtlCol="0" anchor="t">
            <a:spAutoFit/>
          </a:bodyPr>
          <a:lstStyle/>
          <a:p>
            <a:pPr marL="0" lvl="0" indent="0" algn="just">
              <a:lnSpc>
                <a:spcPts val="2580"/>
              </a:lnSpc>
            </a:pPr>
            <a:r>
              <a:rPr lang="en-US" sz="2000" spc="-110">
                <a:solidFill>
                  <a:srgbClr val="FFFFFF"/>
                </a:solidFill>
                <a:latin typeface="Montserrat"/>
                <a:ea typeface="Montserrat"/>
                <a:cs typeface="Montserrat"/>
                <a:sym typeface="Montserrat"/>
              </a:rPr>
              <a:t>The bank faces a critical challenge: how to boost credit card spending among potential customers who are not yet maximizing their card usage.</a:t>
            </a:r>
          </a:p>
          <a:p>
            <a:pPr marL="0" lvl="0" indent="0" algn="just">
              <a:lnSpc>
                <a:spcPts val="2580"/>
              </a:lnSpc>
            </a:pPr>
            <a:r>
              <a:rPr lang="en-US" sz="2000" spc="-110">
                <a:solidFill>
                  <a:srgbClr val="FFFFFF"/>
                </a:solidFill>
                <a:latin typeface="Montserrat"/>
                <a:ea typeface="Montserrat"/>
                <a:cs typeface="Montserrat"/>
                <a:sym typeface="Montserrat"/>
              </a:rPr>
              <a:t>Key challenges include:</a:t>
            </a:r>
          </a:p>
          <a:p>
            <a:pPr marL="0" lvl="0" indent="0" algn="just">
              <a:lnSpc>
                <a:spcPts val="2580"/>
              </a:lnSpc>
            </a:pPr>
            <a:r>
              <a:rPr lang="en-US" sz="2000" spc="-110">
                <a:solidFill>
                  <a:srgbClr val="FFFFFF"/>
                </a:solidFill>
                <a:latin typeface="Montserrat"/>
                <a:ea typeface="Montserrat"/>
                <a:cs typeface="Montserrat"/>
                <a:sym typeface="Montserrat"/>
              </a:rPr>
              <a:t>• Identifying customers with untapped spending potential</a:t>
            </a:r>
          </a:p>
          <a:p>
            <a:pPr marL="0" lvl="0" indent="0" algn="just">
              <a:lnSpc>
                <a:spcPts val="2580"/>
              </a:lnSpc>
            </a:pPr>
            <a:r>
              <a:rPr lang="en-US" sz="2000" spc="-110">
                <a:solidFill>
                  <a:srgbClr val="FFFFFF"/>
                </a:solidFill>
                <a:latin typeface="Montserrat"/>
                <a:ea typeface="Montserrat"/>
                <a:cs typeface="Montserrat"/>
                <a:sym typeface="Montserrat"/>
              </a:rPr>
              <a:t>• Tailoring services based on consumption behavior and demographics</a:t>
            </a:r>
          </a:p>
          <a:p>
            <a:pPr marL="0" lvl="0" indent="0" algn="just">
              <a:lnSpc>
                <a:spcPts val="2580"/>
              </a:lnSpc>
            </a:pPr>
            <a:r>
              <a:rPr lang="en-US" sz="2000" spc="-110">
                <a:solidFill>
                  <a:srgbClr val="FFFFFF"/>
                </a:solidFill>
                <a:latin typeface="Montserrat"/>
                <a:ea typeface="Montserrat"/>
                <a:cs typeface="Montserrat"/>
                <a:sym typeface="Montserrat"/>
              </a:rPr>
              <a:t>• Gaining strategic advantage through predictive insights</a:t>
            </a:r>
          </a:p>
          <a:p>
            <a:pPr marL="0" lvl="0" indent="0" algn="just">
              <a:lnSpc>
                <a:spcPts val="2580"/>
              </a:lnSpc>
            </a:pPr>
            <a:r>
              <a:rPr lang="en-US" sz="2000" spc="-110">
                <a:solidFill>
                  <a:srgbClr val="FFFFFF"/>
                </a:solidFill>
                <a:latin typeface="Montserrat"/>
                <a:ea typeface="Montserrat"/>
                <a:cs typeface="Montserrat"/>
                <a:sym typeface="Montserrat"/>
              </a:rPr>
              <a:t>• Designing targeted marketing campaigns that resonate with specific customer segments</a:t>
            </a:r>
          </a:p>
          <a:p>
            <a:pPr marL="0" lvl="0" indent="0" algn="just">
              <a:lnSpc>
                <a:spcPts val="2580"/>
              </a:lnSpc>
            </a:pPr>
            <a:r>
              <a:rPr lang="en-US" sz="2000" spc="-110">
                <a:solidFill>
                  <a:srgbClr val="FFFFFF"/>
                </a:solidFill>
                <a:latin typeface="Montserrat"/>
                <a:ea typeface="Montserrat"/>
                <a:cs typeface="Montserrat"/>
                <a:sym typeface="Montserrat"/>
              </a:rPr>
              <a:t>Without data-driven insights, marketing efforts remain generic and less effective at driving card utilization.</a:t>
            </a:r>
          </a:p>
        </p:txBody>
      </p:sp>
      <p:sp>
        <p:nvSpPr>
          <p:cNvPr id="11" name="TextBox 11"/>
          <p:cNvSpPr txBox="1"/>
          <p:nvPr/>
        </p:nvSpPr>
        <p:spPr>
          <a:xfrm>
            <a:off x="1379852" y="1043352"/>
            <a:ext cx="1549500" cy="406942"/>
          </a:xfrm>
          <a:prstGeom prst="rect">
            <a:avLst/>
          </a:prstGeom>
        </p:spPr>
        <p:txBody>
          <a:bodyPr lIns="0" tIns="0" rIns="0" bIns="0" rtlCol="0" anchor="t">
            <a:spAutoFit/>
          </a:bodyPr>
          <a:lstStyle/>
          <a:p>
            <a:pPr marL="0" lvl="0" indent="0" algn="l">
              <a:lnSpc>
                <a:spcPts val="1508"/>
              </a:lnSpc>
            </a:pPr>
            <a:r>
              <a:rPr lang="en-US" sz="1754" b="1" spc="-96">
                <a:solidFill>
                  <a:srgbClr val="FFFFFF"/>
                </a:solidFill>
                <a:latin typeface="Montserrat Bold"/>
                <a:ea typeface="Montserrat Bold"/>
                <a:cs typeface="Montserrat Bold"/>
                <a:sym typeface="Montserrat Bold"/>
              </a:rPr>
              <a:t>CREDIT CARD FORECASTING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1012047" y="1085662"/>
            <a:ext cx="316828" cy="282373"/>
          </a:xfrm>
          <a:custGeom>
            <a:avLst/>
            <a:gdLst/>
            <a:ahLst/>
            <a:cxnLst/>
            <a:rect l="l" t="t" r="r" b="b"/>
            <a:pathLst>
              <a:path w="316828" h="282373">
                <a:moveTo>
                  <a:pt x="0" y="0"/>
                </a:moveTo>
                <a:lnTo>
                  <a:pt x="316828" y="0"/>
                </a:lnTo>
                <a:lnTo>
                  <a:pt x="316828" y="282373"/>
                </a:lnTo>
                <a:lnTo>
                  <a:pt x="0" y="282373"/>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3376795" y="3880219"/>
            <a:ext cx="3771347" cy="498943"/>
            <a:chOff x="0" y="0"/>
            <a:chExt cx="993276" cy="131409"/>
          </a:xfrm>
        </p:grpSpPr>
        <p:sp>
          <p:nvSpPr>
            <p:cNvPr id="4" name="Freeform 4"/>
            <p:cNvSpPr/>
            <p:nvPr/>
          </p:nvSpPr>
          <p:spPr>
            <a:xfrm>
              <a:off x="0" y="0"/>
              <a:ext cx="993276" cy="131409"/>
            </a:xfrm>
            <a:custGeom>
              <a:avLst/>
              <a:gdLst/>
              <a:ahLst/>
              <a:cxnLst/>
              <a:rect l="l" t="t" r="r" b="b"/>
              <a:pathLst>
                <a:path w="993276" h="131409">
                  <a:moveTo>
                    <a:pt x="0" y="0"/>
                  </a:moveTo>
                  <a:lnTo>
                    <a:pt x="993276" y="0"/>
                  </a:lnTo>
                  <a:lnTo>
                    <a:pt x="993276" y="131409"/>
                  </a:lnTo>
                  <a:lnTo>
                    <a:pt x="0" y="131409"/>
                  </a:lnTo>
                  <a:close/>
                </a:path>
              </a:pathLst>
            </a:custGeom>
            <a:solidFill>
              <a:srgbClr val="FFFFFF"/>
            </a:solidFill>
          </p:spPr>
          <p:txBody>
            <a:bodyPr/>
            <a:lstStyle/>
            <a:p>
              <a:endParaRPr lang="en-IN"/>
            </a:p>
          </p:txBody>
        </p:sp>
        <p:sp>
          <p:nvSpPr>
            <p:cNvPr id="5" name="TextBox 5"/>
            <p:cNvSpPr txBox="1"/>
            <p:nvPr/>
          </p:nvSpPr>
          <p:spPr>
            <a:xfrm>
              <a:off x="0" y="47625"/>
              <a:ext cx="993276" cy="83784"/>
            </a:xfrm>
            <a:prstGeom prst="rect">
              <a:avLst/>
            </a:prstGeom>
          </p:spPr>
          <p:txBody>
            <a:bodyPr lIns="50800" tIns="50800" rIns="50800" bIns="50800" rtlCol="0" anchor="ctr"/>
            <a:lstStyle/>
            <a:p>
              <a:pPr marL="0" lvl="0" indent="0" algn="ctr">
                <a:lnSpc>
                  <a:spcPts val="1508"/>
                </a:lnSpc>
              </a:pPr>
              <a:endParaRPr/>
            </a:p>
          </p:txBody>
        </p:sp>
      </p:grpSp>
      <p:sp>
        <p:nvSpPr>
          <p:cNvPr id="6" name="TextBox 6"/>
          <p:cNvSpPr txBox="1"/>
          <p:nvPr/>
        </p:nvSpPr>
        <p:spPr>
          <a:xfrm>
            <a:off x="4543342" y="1669369"/>
            <a:ext cx="9201316" cy="991236"/>
          </a:xfrm>
          <a:prstGeom prst="rect">
            <a:avLst/>
          </a:prstGeom>
        </p:spPr>
        <p:txBody>
          <a:bodyPr lIns="0" tIns="0" rIns="0" bIns="0" rtlCol="0" anchor="t">
            <a:spAutoFit/>
          </a:bodyPr>
          <a:lstStyle/>
          <a:p>
            <a:pPr marL="0" lvl="0" indent="0" algn="ctr">
              <a:lnSpc>
                <a:spcPts val="7120"/>
              </a:lnSpc>
            </a:pPr>
            <a:r>
              <a:rPr lang="en-US" sz="8000" b="1">
                <a:solidFill>
                  <a:srgbClr val="FFFFFF"/>
                </a:solidFill>
                <a:latin typeface="Barlow Bold"/>
                <a:ea typeface="Barlow Bold"/>
                <a:cs typeface="Barlow Bold"/>
                <a:sym typeface="Barlow Bold"/>
              </a:rPr>
              <a:t>DATA OVERVIEW</a:t>
            </a:r>
          </a:p>
        </p:txBody>
      </p:sp>
      <p:sp>
        <p:nvSpPr>
          <p:cNvPr id="7" name="TextBox 7"/>
          <p:cNvSpPr txBox="1"/>
          <p:nvPr/>
        </p:nvSpPr>
        <p:spPr>
          <a:xfrm>
            <a:off x="1379852" y="1033827"/>
            <a:ext cx="1549500" cy="309438"/>
          </a:xfrm>
          <a:prstGeom prst="rect">
            <a:avLst/>
          </a:prstGeom>
        </p:spPr>
        <p:txBody>
          <a:bodyPr lIns="0" tIns="0" rIns="0" bIns="0" rtlCol="0" anchor="t">
            <a:spAutoFit/>
          </a:bodyPr>
          <a:lstStyle/>
          <a:p>
            <a:pPr marL="0" lvl="0" indent="0" algn="l">
              <a:lnSpc>
                <a:spcPts val="1152"/>
              </a:lnSpc>
            </a:pPr>
            <a:r>
              <a:rPr lang="en-US" sz="1340" b="1" spc="-73">
                <a:solidFill>
                  <a:srgbClr val="FFFFFF"/>
                </a:solidFill>
                <a:latin typeface="Montserrat Bold"/>
                <a:ea typeface="Montserrat Bold"/>
                <a:cs typeface="Montserrat Bold"/>
                <a:sym typeface="Montserrat Bold"/>
              </a:rPr>
              <a:t>CREDIT CARD FORECASTING</a:t>
            </a:r>
          </a:p>
        </p:txBody>
      </p:sp>
      <p:sp>
        <p:nvSpPr>
          <p:cNvPr id="8" name="TextBox 8"/>
          <p:cNvSpPr txBox="1"/>
          <p:nvPr/>
        </p:nvSpPr>
        <p:spPr>
          <a:xfrm>
            <a:off x="3618161" y="3898653"/>
            <a:ext cx="3288615" cy="324274"/>
          </a:xfrm>
          <a:prstGeom prst="rect">
            <a:avLst/>
          </a:prstGeom>
        </p:spPr>
        <p:txBody>
          <a:bodyPr lIns="0" tIns="0" rIns="0" bIns="0" rtlCol="0" anchor="t">
            <a:spAutoFit/>
          </a:bodyPr>
          <a:lstStyle/>
          <a:p>
            <a:pPr marL="0" lvl="0" indent="0" algn="ctr">
              <a:lnSpc>
                <a:spcPts val="2601"/>
              </a:lnSpc>
            </a:pPr>
            <a:r>
              <a:rPr lang="en-US" sz="1858" b="1" spc="66">
                <a:solidFill>
                  <a:srgbClr val="011442"/>
                </a:solidFill>
                <a:latin typeface="Montserrat Bold"/>
                <a:ea typeface="Montserrat Bold"/>
                <a:cs typeface="Montserrat Bold"/>
                <a:sym typeface="Montserrat Bold"/>
              </a:rPr>
              <a:t>Customer Demographics</a:t>
            </a:r>
          </a:p>
        </p:txBody>
      </p:sp>
      <p:grpSp>
        <p:nvGrpSpPr>
          <p:cNvPr id="9" name="Group 9"/>
          <p:cNvGrpSpPr/>
          <p:nvPr/>
        </p:nvGrpSpPr>
        <p:grpSpPr>
          <a:xfrm>
            <a:off x="10914282" y="3880219"/>
            <a:ext cx="3771347" cy="498943"/>
            <a:chOff x="0" y="0"/>
            <a:chExt cx="993276" cy="131409"/>
          </a:xfrm>
        </p:grpSpPr>
        <p:sp>
          <p:nvSpPr>
            <p:cNvPr id="10" name="Freeform 10"/>
            <p:cNvSpPr/>
            <p:nvPr/>
          </p:nvSpPr>
          <p:spPr>
            <a:xfrm>
              <a:off x="0" y="0"/>
              <a:ext cx="993276" cy="131409"/>
            </a:xfrm>
            <a:custGeom>
              <a:avLst/>
              <a:gdLst/>
              <a:ahLst/>
              <a:cxnLst/>
              <a:rect l="l" t="t" r="r" b="b"/>
              <a:pathLst>
                <a:path w="993276" h="131409">
                  <a:moveTo>
                    <a:pt x="0" y="0"/>
                  </a:moveTo>
                  <a:lnTo>
                    <a:pt x="993276" y="0"/>
                  </a:lnTo>
                  <a:lnTo>
                    <a:pt x="993276" y="131409"/>
                  </a:lnTo>
                  <a:lnTo>
                    <a:pt x="0" y="131409"/>
                  </a:lnTo>
                  <a:close/>
                </a:path>
              </a:pathLst>
            </a:custGeom>
            <a:solidFill>
              <a:srgbClr val="FFFFFF"/>
            </a:solidFill>
          </p:spPr>
          <p:txBody>
            <a:bodyPr/>
            <a:lstStyle/>
            <a:p>
              <a:endParaRPr lang="en-IN"/>
            </a:p>
          </p:txBody>
        </p:sp>
        <p:sp>
          <p:nvSpPr>
            <p:cNvPr id="11" name="TextBox 11"/>
            <p:cNvSpPr txBox="1"/>
            <p:nvPr/>
          </p:nvSpPr>
          <p:spPr>
            <a:xfrm>
              <a:off x="0" y="47625"/>
              <a:ext cx="993276" cy="83784"/>
            </a:xfrm>
            <a:prstGeom prst="rect">
              <a:avLst/>
            </a:prstGeom>
          </p:spPr>
          <p:txBody>
            <a:bodyPr lIns="50800" tIns="50800" rIns="50800" bIns="50800" rtlCol="0" anchor="ctr"/>
            <a:lstStyle/>
            <a:p>
              <a:pPr marL="0" lvl="0" indent="0" algn="ctr">
                <a:lnSpc>
                  <a:spcPts val="1508"/>
                </a:lnSpc>
              </a:pPr>
              <a:endParaRPr/>
            </a:p>
          </p:txBody>
        </p:sp>
      </p:grpSp>
      <p:sp>
        <p:nvSpPr>
          <p:cNvPr id="12" name="TextBox 12"/>
          <p:cNvSpPr txBox="1"/>
          <p:nvPr/>
        </p:nvSpPr>
        <p:spPr>
          <a:xfrm>
            <a:off x="11155648" y="3898653"/>
            <a:ext cx="3288615" cy="324274"/>
          </a:xfrm>
          <a:prstGeom prst="rect">
            <a:avLst/>
          </a:prstGeom>
        </p:spPr>
        <p:txBody>
          <a:bodyPr lIns="0" tIns="0" rIns="0" bIns="0" rtlCol="0" anchor="t">
            <a:spAutoFit/>
          </a:bodyPr>
          <a:lstStyle/>
          <a:p>
            <a:pPr marL="0" lvl="0" indent="0" algn="ctr">
              <a:lnSpc>
                <a:spcPts val="2601"/>
              </a:lnSpc>
            </a:pPr>
            <a:r>
              <a:rPr lang="en-US" sz="1858" b="1" spc="66">
                <a:solidFill>
                  <a:srgbClr val="011442"/>
                </a:solidFill>
                <a:latin typeface="Montserrat Bold"/>
                <a:ea typeface="Montserrat Bold"/>
                <a:cs typeface="Montserrat Bold"/>
                <a:sym typeface="Montserrat Bold"/>
              </a:rPr>
              <a:t>Customer Behaviour</a:t>
            </a:r>
          </a:p>
        </p:txBody>
      </p:sp>
      <p:grpSp>
        <p:nvGrpSpPr>
          <p:cNvPr id="13" name="Group 13"/>
          <p:cNvGrpSpPr/>
          <p:nvPr/>
        </p:nvGrpSpPr>
        <p:grpSpPr>
          <a:xfrm>
            <a:off x="3445200" y="6500139"/>
            <a:ext cx="3771347" cy="498943"/>
            <a:chOff x="0" y="0"/>
            <a:chExt cx="993276" cy="131409"/>
          </a:xfrm>
        </p:grpSpPr>
        <p:sp>
          <p:nvSpPr>
            <p:cNvPr id="14" name="Freeform 14"/>
            <p:cNvSpPr/>
            <p:nvPr/>
          </p:nvSpPr>
          <p:spPr>
            <a:xfrm>
              <a:off x="0" y="0"/>
              <a:ext cx="993276" cy="131409"/>
            </a:xfrm>
            <a:custGeom>
              <a:avLst/>
              <a:gdLst/>
              <a:ahLst/>
              <a:cxnLst/>
              <a:rect l="l" t="t" r="r" b="b"/>
              <a:pathLst>
                <a:path w="993276" h="131409">
                  <a:moveTo>
                    <a:pt x="0" y="0"/>
                  </a:moveTo>
                  <a:lnTo>
                    <a:pt x="993276" y="0"/>
                  </a:lnTo>
                  <a:lnTo>
                    <a:pt x="993276" y="131409"/>
                  </a:lnTo>
                  <a:lnTo>
                    <a:pt x="0" y="131409"/>
                  </a:lnTo>
                  <a:close/>
                </a:path>
              </a:pathLst>
            </a:custGeom>
            <a:solidFill>
              <a:srgbClr val="FFFFFF"/>
            </a:solidFill>
          </p:spPr>
          <p:txBody>
            <a:bodyPr/>
            <a:lstStyle/>
            <a:p>
              <a:endParaRPr lang="en-IN"/>
            </a:p>
          </p:txBody>
        </p:sp>
        <p:sp>
          <p:nvSpPr>
            <p:cNvPr id="15" name="TextBox 15"/>
            <p:cNvSpPr txBox="1"/>
            <p:nvPr/>
          </p:nvSpPr>
          <p:spPr>
            <a:xfrm>
              <a:off x="0" y="47625"/>
              <a:ext cx="993276" cy="83784"/>
            </a:xfrm>
            <a:prstGeom prst="rect">
              <a:avLst/>
            </a:prstGeom>
          </p:spPr>
          <p:txBody>
            <a:bodyPr lIns="50800" tIns="50800" rIns="50800" bIns="50800" rtlCol="0" anchor="ctr"/>
            <a:lstStyle/>
            <a:p>
              <a:pPr marL="0" lvl="0" indent="0" algn="ctr">
                <a:lnSpc>
                  <a:spcPts val="1508"/>
                </a:lnSpc>
              </a:pPr>
              <a:endParaRPr/>
            </a:p>
          </p:txBody>
        </p:sp>
      </p:grpSp>
      <p:sp>
        <p:nvSpPr>
          <p:cNvPr id="16" name="TextBox 16"/>
          <p:cNvSpPr txBox="1"/>
          <p:nvPr/>
        </p:nvSpPr>
        <p:spPr>
          <a:xfrm>
            <a:off x="3686566" y="6518574"/>
            <a:ext cx="3288615" cy="324274"/>
          </a:xfrm>
          <a:prstGeom prst="rect">
            <a:avLst/>
          </a:prstGeom>
        </p:spPr>
        <p:txBody>
          <a:bodyPr lIns="0" tIns="0" rIns="0" bIns="0" rtlCol="0" anchor="t">
            <a:spAutoFit/>
          </a:bodyPr>
          <a:lstStyle/>
          <a:p>
            <a:pPr marL="0" lvl="0" indent="0" algn="ctr">
              <a:lnSpc>
                <a:spcPts val="2601"/>
              </a:lnSpc>
            </a:pPr>
            <a:r>
              <a:rPr lang="en-US" sz="1858" b="1" spc="66">
                <a:solidFill>
                  <a:srgbClr val="011442"/>
                </a:solidFill>
                <a:latin typeface="Montserrat Bold"/>
                <a:ea typeface="Montserrat Bold"/>
                <a:cs typeface="Montserrat Bold"/>
                <a:sym typeface="Montserrat Bold"/>
              </a:rPr>
              <a:t>Customer Consumption</a:t>
            </a:r>
          </a:p>
        </p:txBody>
      </p:sp>
      <p:grpSp>
        <p:nvGrpSpPr>
          <p:cNvPr id="17" name="Group 17"/>
          <p:cNvGrpSpPr/>
          <p:nvPr/>
        </p:nvGrpSpPr>
        <p:grpSpPr>
          <a:xfrm>
            <a:off x="10137584" y="6500139"/>
            <a:ext cx="5324744" cy="558011"/>
            <a:chOff x="0" y="0"/>
            <a:chExt cx="1402402" cy="146966"/>
          </a:xfrm>
        </p:grpSpPr>
        <p:sp>
          <p:nvSpPr>
            <p:cNvPr id="18" name="Freeform 18"/>
            <p:cNvSpPr/>
            <p:nvPr/>
          </p:nvSpPr>
          <p:spPr>
            <a:xfrm>
              <a:off x="0" y="0"/>
              <a:ext cx="1402402" cy="146966"/>
            </a:xfrm>
            <a:custGeom>
              <a:avLst/>
              <a:gdLst/>
              <a:ahLst/>
              <a:cxnLst/>
              <a:rect l="l" t="t" r="r" b="b"/>
              <a:pathLst>
                <a:path w="1402402" h="146966">
                  <a:moveTo>
                    <a:pt x="0" y="0"/>
                  </a:moveTo>
                  <a:lnTo>
                    <a:pt x="1402402" y="0"/>
                  </a:lnTo>
                  <a:lnTo>
                    <a:pt x="1402402" y="146966"/>
                  </a:lnTo>
                  <a:lnTo>
                    <a:pt x="0" y="146966"/>
                  </a:lnTo>
                  <a:close/>
                </a:path>
              </a:pathLst>
            </a:custGeom>
            <a:solidFill>
              <a:srgbClr val="FFFFFF"/>
            </a:solidFill>
          </p:spPr>
          <p:txBody>
            <a:bodyPr/>
            <a:lstStyle/>
            <a:p>
              <a:endParaRPr lang="en-IN"/>
            </a:p>
          </p:txBody>
        </p:sp>
        <p:sp>
          <p:nvSpPr>
            <p:cNvPr id="19" name="TextBox 19"/>
            <p:cNvSpPr txBox="1"/>
            <p:nvPr/>
          </p:nvSpPr>
          <p:spPr>
            <a:xfrm>
              <a:off x="0" y="47625"/>
              <a:ext cx="1402402" cy="99341"/>
            </a:xfrm>
            <a:prstGeom prst="rect">
              <a:avLst/>
            </a:prstGeom>
          </p:spPr>
          <p:txBody>
            <a:bodyPr lIns="50800" tIns="50800" rIns="50800" bIns="50800" rtlCol="0" anchor="ctr"/>
            <a:lstStyle/>
            <a:p>
              <a:pPr marL="0" lvl="0" indent="0" algn="ctr">
                <a:lnSpc>
                  <a:spcPts val="1508"/>
                </a:lnSpc>
              </a:pPr>
              <a:endParaRPr/>
            </a:p>
          </p:txBody>
        </p:sp>
      </p:grpSp>
      <p:sp>
        <p:nvSpPr>
          <p:cNvPr id="20" name="TextBox 20"/>
          <p:cNvSpPr txBox="1"/>
          <p:nvPr/>
        </p:nvSpPr>
        <p:spPr>
          <a:xfrm>
            <a:off x="9912008" y="6548108"/>
            <a:ext cx="5775896" cy="324274"/>
          </a:xfrm>
          <a:prstGeom prst="rect">
            <a:avLst/>
          </a:prstGeom>
        </p:spPr>
        <p:txBody>
          <a:bodyPr lIns="0" tIns="0" rIns="0" bIns="0" rtlCol="0" anchor="t">
            <a:spAutoFit/>
          </a:bodyPr>
          <a:lstStyle/>
          <a:p>
            <a:pPr marL="0" lvl="0" indent="0" algn="ctr">
              <a:lnSpc>
                <a:spcPts val="2601"/>
              </a:lnSpc>
            </a:pPr>
            <a:r>
              <a:rPr lang="en-US" sz="1858" b="1" spc="66">
                <a:solidFill>
                  <a:srgbClr val="011442"/>
                </a:solidFill>
                <a:latin typeface="Montserrat Bold"/>
                <a:ea typeface="Montserrat Bold"/>
                <a:cs typeface="Montserrat Bold"/>
                <a:sym typeface="Montserrat Bold"/>
              </a:rPr>
              <a:t>Total Dataset Summary</a:t>
            </a:r>
          </a:p>
        </p:txBody>
      </p:sp>
      <p:sp>
        <p:nvSpPr>
          <p:cNvPr id="21" name="TextBox 21"/>
          <p:cNvSpPr txBox="1"/>
          <p:nvPr/>
        </p:nvSpPr>
        <p:spPr>
          <a:xfrm>
            <a:off x="2600096" y="4436311"/>
            <a:ext cx="5324744" cy="114147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Comprehensive customer profile data including age, gender, employment status, income levels, and other demographic attributes essential for segmentation and targeting strategies.</a:t>
            </a:r>
          </a:p>
        </p:txBody>
      </p:sp>
      <p:sp>
        <p:nvSpPr>
          <p:cNvPr id="22" name="TextBox 22"/>
          <p:cNvSpPr txBox="1"/>
          <p:nvPr/>
        </p:nvSpPr>
        <p:spPr>
          <a:xfrm>
            <a:off x="10137584" y="4436311"/>
            <a:ext cx="5324744" cy="114147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Three months of detailed consumption expenditure data capturing spending patterns, transaction frequency, and behavioral trends across various spending categories.</a:t>
            </a:r>
          </a:p>
        </p:txBody>
      </p:sp>
      <p:sp>
        <p:nvSpPr>
          <p:cNvPr id="23" name="TextBox 23"/>
          <p:cNvSpPr txBox="1"/>
          <p:nvPr/>
        </p:nvSpPr>
        <p:spPr>
          <a:xfrm>
            <a:off x="10137584" y="7176517"/>
            <a:ext cx="5324744" cy="114147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20,000 total customer records with 28 distinct features merged from three integrated data sources, providing a robust foundation for predictive modeling.</a:t>
            </a:r>
          </a:p>
        </p:txBody>
      </p:sp>
      <p:sp>
        <p:nvSpPr>
          <p:cNvPr id="24" name="TextBox 24"/>
          <p:cNvSpPr txBox="1"/>
          <p:nvPr/>
        </p:nvSpPr>
        <p:spPr>
          <a:xfrm>
            <a:off x="2600096" y="7176517"/>
            <a:ext cx="5324744" cy="114147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Unique Customer ID linked with credit card spend data, enabling precise tracking and analysis of individual consumption patterns for accurate forecasting.</a:t>
            </a:r>
          </a:p>
        </p:txBody>
      </p:sp>
      <p:sp>
        <p:nvSpPr>
          <p:cNvPr id="25" name="Freeform 25"/>
          <p:cNvSpPr/>
          <p:nvPr/>
        </p:nvSpPr>
        <p:spPr>
          <a:xfrm>
            <a:off x="-432037" y="9280018"/>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26" name="Freeform 26"/>
          <p:cNvSpPr/>
          <p:nvPr/>
        </p:nvSpPr>
        <p:spPr>
          <a:xfrm>
            <a:off x="11324240" y="390677"/>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978871" y="1031088"/>
            <a:ext cx="393012" cy="385198"/>
          </a:xfrm>
          <a:custGeom>
            <a:avLst/>
            <a:gdLst/>
            <a:ahLst/>
            <a:cxnLst/>
            <a:rect l="l" t="t" r="r" b="b"/>
            <a:pathLst>
              <a:path w="393012" h="385198">
                <a:moveTo>
                  <a:pt x="0" y="0"/>
                </a:moveTo>
                <a:lnTo>
                  <a:pt x="393012" y="0"/>
                </a:lnTo>
                <a:lnTo>
                  <a:pt x="393012" y="385198"/>
                </a:lnTo>
                <a:lnTo>
                  <a:pt x="0" y="385198"/>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1028700" y="1933978"/>
            <a:ext cx="6419044" cy="641904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3"/>
              <a:stretch>
                <a:fillRect/>
              </a:stretch>
            </a:blipFill>
            <a:ln w="85725" cap="sq">
              <a:solidFill>
                <a:srgbClr val="FFFFFF"/>
              </a:solidFill>
              <a:prstDash val="solid"/>
              <a:miter/>
            </a:ln>
          </p:spPr>
          <p:txBody>
            <a:bodyPr/>
            <a:lstStyle/>
            <a:p>
              <a:endParaRPr lang="en-IN"/>
            </a:p>
          </p:txBody>
        </p:sp>
      </p:grpSp>
      <p:grpSp>
        <p:nvGrpSpPr>
          <p:cNvPr id="5" name="Group 5"/>
          <p:cNvGrpSpPr/>
          <p:nvPr/>
        </p:nvGrpSpPr>
        <p:grpSpPr>
          <a:xfrm>
            <a:off x="1181100" y="5448300"/>
            <a:ext cx="3057122" cy="305712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4"/>
              <a:stretch>
                <a:fillRect/>
              </a:stretch>
            </a:blipFill>
            <a:ln w="85725" cap="sq">
              <a:solidFill>
                <a:srgbClr val="FFFFFF"/>
              </a:solidFill>
              <a:prstDash val="solid"/>
              <a:miter/>
            </a:ln>
          </p:spPr>
          <p:txBody>
            <a:bodyPr/>
            <a:lstStyle/>
            <a:p>
              <a:endParaRPr lang="en-IN"/>
            </a:p>
          </p:txBody>
        </p:sp>
      </p:grpSp>
      <p:sp>
        <p:nvSpPr>
          <p:cNvPr id="7" name="Freeform 7"/>
          <p:cNvSpPr/>
          <p:nvPr/>
        </p:nvSpPr>
        <p:spPr>
          <a:xfrm>
            <a:off x="11249180" y="240194"/>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8" name="Freeform 8"/>
          <p:cNvSpPr/>
          <p:nvPr/>
        </p:nvSpPr>
        <p:spPr>
          <a:xfrm>
            <a:off x="301741" y="8653250"/>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9" name="TextBox 9"/>
          <p:cNvSpPr txBox="1"/>
          <p:nvPr/>
        </p:nvSpPr>
        <p:spPr>
          <a:xfrm>
            <a:off x="8589912" y="2569978"/>
            <a:ext cx="8669388" cy="1862369"/>
          </a:xfrm>
          <a:prstGeom prst="rect">
            <a:avLst/>
          </a:prstGeom>
        </p:spPr>
        <p:txBody>
          <a:bodyPr lIns="0" tIns="0" rIns="0" bIns="0" rtlCol="0" anchor="t">
            <a:spAutoFit/>
          </a:bodyPr>
          <a:lstStyle/>
          <a:p>
            <a:pPr marL="0" lvl="0" indent="0" algn="l">
              <a:lnSpc>
                <a:spcPts val="7003"/>
              </a:lnSpc>
            </a:pPr>
            <a:r>
              <a:rPr lang="en-US" sz="7868" b="1" dirty="0">
                <a:solidFill>
                  <a:srgbClr val="FFFFFF"/>
                </a:solidFill>
                <a:latin typeface="Barlow Bold"/>
                <a:ea typeface="Barlow Bold"/>
                <a:cs typeface="Barlow Bold"/>
                <a:sym typeface="Barlow Bold"/>
              </a:rPr>
              <a:t>DATA INTEGRATION &amp; CLEANING</a:t>
            </a:r>
          </a:p>
        </p:txBody>
      </p:sp>
      <p:sp>
        <p:nvSpPr>
          <p:cNvPr id="10" name="TextBox 10"/>
          <p:cNvSpPr txBox="1"/>
          <p:nvPr/>
        </p:nvSpPr>
        <p:spPr>
          <a:xfrm>
            <a:off x="8622200" y="5438614"/>
            <a:ext cx="8115300" cy="2577465"/>
          </a:xfrm>
          <a:prstGeom prst="rect">
            <a:avLst/>
          </a:prstGeom>
        </p:spPr>
        <p:txBody>
          <a:bodyPr lIns="0" tIns="0" rIns="0" bIns="0" rtlCol="0" anchor="t">
            <a:spAutoFit/>
          </a:bodyPr>
          <a:lstStyle/>
          <a:p>
            <a:pPr marL="0" lvl="0" indent="0" algn="just">
              <a:lnSpc>
                <a:spcPts val="2580"/>
              </a:lnSpc>
            </a:pPr>
            <a:r>
              <a:rPr lang="en-US" sz="2000" spc="-110" dirty="0">
                <a:solidFill>
                  <a:srgbClr val="FFFFFF"/>
                </a:solidFill>
                <a:latin typeface="Montserrat"/>
                <a:ea typeface="Montserrat"/>
                <a:cs typeface="Montserrat"/>
                <a:sym typeface="Montserrat"/>
              </a:rPr>
              <a:t>Our data preparation process ensured high-quality inputs for accurate forecasting:</a:t>
            </a:r>
          </a:p>
          <a:p>
            <a:pPr marL="0" lvl="0" indent="0" algn="just">
              <a:lnSpc>
                <a:spcPts val="2580"/>
              </a:lnSpc>
            </a:pPr>
            <a:r>
              <a:rPr lang="en-US" sz="2000" spc="-110" dirty="0">
                <a:solidFill>
                  <a:srgbClr val="FFFFFF"/>
                </a:solidFill>
                <a:latin typeface="Montserrat"/>
                <a:ea typeface="Montserrat"/>
                <a:cs typeface="Montserrat"/>
                <a:sym typeface="Montserrat"/>
              </a:rPr>
              <a:t>• Merged three datasets on unique Customer ID using left join strategy</a:t>
            </a:r>
          </a:p>
          <a:p>
            <a:pPr marL="0" lvl="0" indent="0" algn="just">
              <a:lnSpc>
                <a:spcPts val="2580"/>
              </a:lnSpc>
            </a:pPr>
            <a:r>
              <a:rPr lang="en-US" sz="2000" spc="-110" dirty="0">
                <a:solidFill>
                  <a:srgbClr val="FFFFFF"/>
                </a:solidFill>
                <a:latin typeface="Montserrat"/>
                <a:ea typeface="Montserrat"/>
                <a:cs typeface="Montserrat"/>
                <a:sym typeface="Montserrat"/>
              </a:rPr>
              <a:t>• Verified data integrity: no duplicate rows found across merged dataset</a:t>
            </a:r>
          </a:p>
          <a:p>
            <a:pPr marL="0" lvl="0" indent="0" algn="just">
              <a:lnSpc>
                <a:spcPts val="2580"/>
              </a:lnSpc>
            </a:pPr>
            <a:r>
              <a:rPr lang="en-US" sz="2000" spc="-110" dirty="0">
                <a:solidFill>
                  <a:srgbClr val="FFFFFF"/>
                </a:solidFill>
                <a:latin typeface="Montserrat"/>
                <a:ea typeface="Montserrat"/>
                <a:cs typeface="Montserrat"/>
                <a:sym typeface="Montserrat"/>
              </a:rPr>
              <a:t>• Separated 5,000 records with missing target values for later prediction</a:t>
            </a:r>
          </a:p>
          <a:p>
            <a:pPr marL="0" lvl="0" indent="0" algn="just">
              <a:lnSpc>
                <a:spcPts val="2580"/>
              </a:lnSpc>
            </a:pPr>
            <a:r>
              <a:rPr lang="en-US" sz="2000" spc="-110" dirty="0">
                <a:solidFill>
                  <a:srgbClr val="FFFFFF"/>
                </a:solidFill>
                <a:latin typeface="Montserrat"/>
                <a:ea typeface="Montserrat"/>
                <a:cs typeface="Montserrat"/>
                <a:sym typeface="Montserrat"/>
              </a:rPr>
              <a:t>• Imputed minor missing values in demographic and behavioral features</a:t>
            </a:r>
          </a:p>
          <a:p>
            <a:pPr marL="0" lvl="0" indent="0" algn="just">
              <a:lnSpc>
                <a:spcPts val="2580"/>
              </a:lnSpc>
            </a:pPr>
            <a:r>
              <a:rPr lang="en-US" sz="2000" spc="-110" dirty="0">
                <a:solidFill>
                  <a:srgbClr val="FFFFFF"/>
                </a:solidFill>
                <a:latin typeface="Montserrat"/>
                <a:ea typeface="Montserrat"/>
                <a:cs typeface="Montserrat"/>
                <a:sym typeface="Montserrat"/>
              </a:rPr>
              <a:t>• Final cleaned dataset ready for feature engineering and modeling</a:t>
            </a:r>
          </a:p>
        </p:txBody>
      </p:sp>
      <p:sp>
        <p:nvSpPr>
          <p:cNvPr id="11" name="TextBox 11"/>
          <p:cNvSpPr txBox="1"/>
          <p:nvPr/>
        </p:nvSpPr>
        <p:spPr>
          <a:xfrm>
            <a:off x="1379852" y="1043352"/>
            <a:ext cx="1549500" cy="406889"/>
          </a:xfrm>
          <a:prstGeom prst="rect">
            <a:avLst/>
          </a:prstGeom>
        </p:spPr>
        <p:txBody>
          <a:bodyPr lIns="0" tIns="0" rIns="0" bIns="0" rtlCol="0" anchor="t">
            <a:spAutoFit/>
          </a:bodyPr>
          <a:lstStyle/>
          <a:p>
            <a:pPr marL="0" lvl="0" indent="0" algn="l">
              <a:lnSpc>
                <a:spcPts val="1507"/>
              </a:lnSpc>
            </a:pPr>
            <a:r>
              <a:rPr lang="en-US" sz="1753" b="1" spc="-96">
                <a:solidFill>
                  <a:srgbClr val="FFFFFF"/>
                </a:solidFill>
                <a:latin typeface="Montserrat Bold"/>
                <a:ea typeface="Montserrat Bold"/>
                <a:cs typeface="Montserrat Bold"/>
                <a:sym typeface="Montserrat Bold"/>
              </a:rPr>
              <a:t>CREDIT CARD FORECASTING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1028700" y="1076233"/>
            <a:ext cx="293554" cy="293554"/>
          </a:xfrm>
          <a:custGeom>
            <a:avLst/>
            <a:gdLst/>
            <a:ahLst/>
            <a:cxnLst/>
            <a:rect l="l" t="t" r="r" b="b"/>
            <a:pathLst>
              <a:path w="293554" h="293554">
                <a:moveTo>
                  <a:pt x="0" y="0"/>
                </a:moveTo>
                <a:lnTo>
                  <a:pt x="293554" y="0"/>
                </a:lnTo>
                <a:lnTo>
                  <a:pt x="293554" y="293554"/>
                </a:lnTo>
                <a:lnTo>
                  <a:pt x="0" y="293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1028700" y="3055753"/>
            <a:ext cx="8669388" cy="1886365"/>
          </a:xfrm>
          <a:prstGeom prst="rect">
            <a:avLst/>
          </a:prstGeom>
        </p:spPr>
        <p:txBody>
          <a:bodyPr lIns="0" tIns="0" rIns="0" bIns="0" rtlCol="0" anchor="t">
            <a:spAutoFit/>
          </a:bodyPr>
          <a:lstStyle/>
          <a:p>
            <a:pPr marL="0" lvl="0" indent="0" algn="l">
              <a:lnSpc>
                <a:spcPts val="7115"/>
              </a:lnSpc>
            </a:pPr>
            <a:r>
              <a:rPr lang="en-US" sz="7994" b="1">
                <a:solidFill>
                  <a:srgbClr val="FFFFFF"/>
                </a:solidFill>
                <a:latin typeface="Barlow Bold"/>
                <a:ea typeface="Barlow Bold"/>
                <a:cs typeface="Barlow Bold"/>
                <a:sym typeface="Barlow Bold"/>
              </a:rPr>
              <a:t>STATISTICAL PROFILING</a:t>
            </a:r>
          </a:p>
        </p:txBody>
      </p:sp>
      <p:sp>
        <p:nvSpPr>
          <p:cNvPr id="4" name="TextBox 4"/>
          <p:cNvSpPr txBox="1"/>
          <p:nvPr/>
        </p:nvSpPr>
        <p:spPr>
          <a:xfrm>
            <a:off x="1028700" y="5196707"/>
            <a:ext cx="7047662" cy="1929765"/>
          </a:xfrm>
          <a:prstGeom prst="rect">
            <a:avLst/>
          </a:prstGeom>
        </p:spPr>
        <p:txBody>
          <a:bodyPr lIns="0" tIns="0" rIns="0" bIns="0" rtlCol="0" anchor="t">
            <a:spAutoFit/>
          </a:bodyPr>
          <a:lstStyle/>
          <a:p>
            <a:pPr marL="0" lvl="0" indent="0" algn="just">
              <a:lnSpc>
                <a:spcPts val="2580"/>
              </a:lnSpc>
            </a:pPr>
            <a:r>
              <a:rPr lang="en-US" sz="2000" spc="-110">
                <a:solidFill>
                  <a:srgbClr val="FFFFFF"/>
                </a:solidFill>
                <a:latin typeface="Montserrat"/>
                <a:ea typeface="Montserrat"/>
                <a:cs typeface="Montserrat"/>
                <a:sym typeface="Montserrat"/>
              </a:rPr>
              <a:t>Average credit card spend is approximately 9,369 with a maximum of 160,735, revealing a high right-skew distribution. The standard deviation of 41,341 indicates substantial variance across customer spending patterns. These characteristics necessitate data transformations to stabilize the dataset for accurate predictive modeling.</a:t>
            </a:r>
          </a:p>
        </p:txBody>
      </p:sp>
      <p:sp>
        <p:nvSpPr>
          <p:cNvPr id="5" name="TextBox 5"/>
          <p:cNvSpPr txBox="1"/>
          <p:nvPr/>
        </p:nvSpPr>
        <p:spPr>
          <a:xfrm>
            <a:off x="1379852" y="1043352"/>
            <a:ext cx="1549500" cy="406889"/>
          </a:xfrm>
          <a:prstGeom prst="rect">
            <a:avLst/>
          </a:prstGeom>
        </p:spPr>
        <p:txBody>
          <a:bodyPr lIns="0" tIns="0" rIns="0" bIns="0" rtlCol="0" anchor="t">
            <a:spAutoFit/>
          </a:bodyPr>
          <a:lstStyle/>
          <a:p>
            <a:pPr marL="0" lvl="0" indent="0" algn="l">
              <a:lnSpc>
                <a:spcPts val="1507"/>
              </a:lnSpc>
            </a:pPr>
            <a:r>
              <a:rPr lang="en-US" sz="1753" b="1" spc="-96">
                <a:solidFill>
                  <a:srgbClr val="FFFFFF"/>
                </a:solidFill>
                <a:latin typeface="Montserrat Bold"/>
                <a:ea typeface="Montserrat Bold"/>
                <a:cs typeface="Montserrat Bold"/>
                <a:sym typeface="Montserrat Bold"/>
              </a:rPr>
              <a:t>CREDIT CARD FORECASTING</a:t>
            </a:r>
          </a:p>
        </p:txBody>
      </p:sp>
      <p:pic>
        <p:nvPicPr>
          <p:cNvPr id="6" name="Picture 6"/>
          <p:cNvPicPr>
            <a:picLocks noChangeAspect="1"/>
          </p:cNvPicPr>
          <p:nvPr/>
        </p:nvPicPr>
        <p:blipFill>
          <a:blip r:embed="rId4"/>
          <a:stretch>
            <a:fillRect/>
          </a:stretch>
        </p:blipFill>
        <p:spPr>
          <a:xfrm>
            <a:off x="7708147" y="1068947"/>
            <a:ext cx="10419439" cy="8149106"/>
          </a:xfrm>
          <a:prstGeom prst="rect">
            <a:avLst/>
          </a:prstGeom>
        </p:spPr>
      </p:pic>
      <p:sp>
        <p:nvSpPr>
          <p:cNvPr id="7" name="Freeform 7"/>
          <p:cNvSpPr/>
          <p:nvPr/>
        </p:nvSpPr>
        <p:spPr>
          <a:xfrm>
            <a:off x="-432037" y="8653250"/>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1028695" y="1076135"/>
            <a:ext cx="293554" cy="293554"/>
          </a:xfrm>
          <a:custGeom>
            <a:avLst/>
            <a:gdLst/>
            <a:ahLst/>
            <a:cxnLst/>
            <a:rect l="l" t="t" r="r" b="b"/>
            <a:pathLst>
              <a:path w="293554" h="293554">
                <a:moveTo>
                  <a:pt x="0" y="0"/>
                </a:moveTo>
                <a:lnTo>
                  <a:pt x="293553" y="0"/>
                </a:lnTo>
                <a:lnTo>
                  <a:pt x="293553" y="293554"/>
                </a:lnTo>
                <a:lnTo>
                  <a:pt x="0" y="293554"/>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3376795" y="3880219"/>
            <a:ext cx="3771347" cy="498943"/>
            <a:chOff x="0" y="0"/>
            <a:chExt cx="993276" cy="131409"/>
          </a:xfrm>
        </p:grpSpPr>
        <p:sp>
          <p:nvSpPr>
            <p:cNvPr id="4" name="Freeform 4"/>
            <p:cNvSpPr/>
            <p:nvPr/>
          </p:nvSpPr>
          <p:spPr>
            <a:xfrm>
              <a:off x="0" y="0"/>
              <a:ext cx="993276" cy="131409"/>
            </a:xfrm>
            <a:custGeom>
              <a:avLst/>
              <a:gdLst/>
              <a:ahLst/>
              <a:cxnLst/>
              <a:rect l="l" t="t" r="r" b="b"/>
              <a:pathLst>
                <a:path w="993276" h="131409">
                  <a:moveTo>
                    <a:pt x="0" y="0"/>
                  </a:moveTo>
                  <a:lnTo>
                    <a:pt x="993276" y="0"/>
                  </a:lnTo>
                  <a:lnTo>
                    <a:pt x="993276" y="131409"/>
                  </a:lnTo>
                  <a:lnTo>
                    <a:pt x="0" y="131409"/>
                  </a:lnTo>
                  <a:close/>
                </a:path>
              </a:pathLst>
            </a:custGeom>
            <a:solidFill>
              <a:srgbClr val="FFFFFF"/>
            </a:solidFill>
          </p:spPr>
          <p:txBody>
            <a:bodyPr/>
            <a:lstStyle/>
            <a:p>
              <a:endParaRPr lang="en-IN"/>
            </a:p>
          </p:txBody>
        </p:sp>
        <p:sp>
          <p:nvSpPr>
            <p:cNvPr id="5" name="TextBox 5"/>
            <p:cNvSpPr txBox="1"/>
            <p:nvPr/>
          </p:nvSpPr>
          <p:spPr>
            <a:xfrm>
              <a:off x="0" y="47625"/>
              <a:ext cx="993276" cy="83784"/>
            </a:xfrm>
            <a:prstGeom prst="rect">
              <a:avLst/>
            </a:prstGeom>
          </p:spPr>
          <p:txBody>
            <a:bodyPr lIns="50800" tIns="50800" rIns="50800" bIns="50800" rtlCol="0" anchor="ctr"/>
            <a:lstStyle/>
            <a:p>
              <a:pPr marL="0" lvl="0" indent="0" algn="ctr">
                <a:lnSpc>
                  <a:spcPts val="1508"/>
                </a:lnSpc>
              </a:pPr>
              <a:endParaRPr/>
            </a:p>
          </p:txBody>
        </p:sp>
      </p:grpSp>
      <p:sp>
        <p:nvSpPr>
          <p:cNvPr id="6" name="TextBox 6"/>
          <p:cNvSpPr txBox="1"/>
          <p:nvPr/>
        </p:nvSpPr>
        <p:spPr>
          <a:xfrm>
            <a:off x="4543342" y="1669369"/>
            <a:ext cx="9201316" cy="1886365"/>
          </a:xfrm>
          <a:prstGeom prst="rect">
            <a:avLst/>
          </a:prstGeom>
        </p:spPr>
        <p:txBody>
          <a:bodyPr lIns="0" tIns="0" rIns="0" bIns="0" rtlCol="0" anchor="t">
            <a:spAutoFit/>
          </a:bodyPr>
          <a:lstStyle/>
          <a:p>
            <a:pPr marL="0" lvl="0" indent="0" algn="ctr">
              <a:lnSpc>
                <a:spcPts val="7115"/>
              </a:lnSpc>
            </a:pPr>
            <a:r>
              <a:rPr lang="en-US" sz="7994" b="1">
                <a:solidFill>
                  <a:srgbClr val="FFFFFF"/>
                </a:solidFill>
                <a:latin typeface="Barlow Bold"/>
                <a:ea typeface="Barlow Bold"/>
                <a:cs typeface="Barlow Bold"/>
                <a:sym typeface="Barlow Bold"/>
              </a:rPr>
              <a:t>KEY PERFORMANCE INDICATORS</a:t>
            </a:r>
          </a:p>
        </p:txBody>
      </p:sp>
      <p:sp>
        <p:nvSpPr>
          <p:cNvPr id="7" name="TextBox 7"/>
          <p:cNvSpPr txBox="1"/>
          <p:nvPr/>
        </p:nvSpPr>
        <p:spPr>
          <a:xfrm>
            <a:off x="1379852" y="1043352"/>
            <a:ext cx="1549500" cy="274458"/>
          </a:xfrm>
          <a:prstGeom prst="rect">
            <a:avLst/>
          </a:prstGeom>
        </p:spPr>
        <p:txBody>
          <a:bodyPr lIns="0" tIns="0" rIns="0" bIns="0" rtlCol="0" anchor="t">
            <a:spAutoFit/>
          </a:bodyPr>
          <a:lstStyle/>
          <a:p>
            <a:pPr marL="0" lvl="0" indent="0" algn="l">
              <a:lnSpc>
                <a:spcPts val="1089"/>
              </a:lnSpc>
            </a:pPr>
            <a:r>
              <a:rPr lang="en-US" sz="1266" b="1" spc="-69">
                <a:solidFill>
                  <a:srgbClr val="FFFFFF"/>
                </a:solidFill>
                <a:latin typeface="Montserrat Bold"/>
                <a:ea typeface="Montserrat Bold"/>
                <a:cs typeface="Montserrat Bold"/>
                <a:sym typeface="Montserrat Bold"/>
              </a:rPr>
              <a:t>CREDIT CARD FORECASTING</a:t>
            </a:r>
          </a:p>
        </p:txBody>
      </p:sp>
      <p:sp>
        <p:nvSpPr>
          <p:cNvPr id="8" name="TextBox 8"/>
          <p:cNvSpPr txBox="1"/>
          <p:nvPr/>
        </p:nvSpPr>
        <p:spPr>
          <a:xfrm>
            <a:off x="3618161" y="3917703"/>
            <a:ext cx="3288615" cy="288762"/>
          </a:xfrm>
          <a:prstGeom prst="rect">
            <a:avLst/>
          </a:prstGeom>
        </p:spPr>
        <p:txBody>
          <a:bodyPr lIns="0" tIns="0" rIns="0" bIns="0" rtlCol="0" anchor="t">
            <a:spAutoFit/>
          </a:bodyPr>
          <a:lstStyle/>
          <a:p>
            <a:pPr marL="0" lvl="0" indent="0" algn="ctr">
              <a:lnSpc>
                <a:spcPts val="2458"/>
              </a:lnSpc>
            </a:pPr>
            <a:r>
              <a:rPr lang="en-US" sz="1756" b="1" spc="63">
                <a:solidFill>
                  <a:srgbClr val="011442"/>
                </a:solidFill>
                <a:latin typeface="Montserrat Bold"/>
                <a:ea typeface="Montserrat Bold"/>
                <a:cs typeface="Montserrat Bold"/>
                <a:sym typeface="Montserrat Bold"/>
              </a:rPr>
              <a:t>Credit Utilization Ratio</a:t>
            </a:r>
          </a:p>
        </p:txBody>
      </p:sp>
      <p:grpSp>
        <p:nvGrpSpPr>
          <p:cNvPr id="9" name="Group 9"/>
          <p:cNvGrpSpPr/>
          <p:nvPr/>
        </p:nvGrpSpPr>
        <p:grpSpPr>
          <a:xfrm>
            <a:off x="10914282" y="3880219"/>
            <a:ext cx="3771347" cy="498943"/>
            <a:chOff x="0" y="0"/>
            <a:chExt cx="993276" cy="131409"/>
          </a:xfrm>
        </p:grpSpPr>
        <p:sp>
          <p:nvSpPr>
            <p:cNvPr id="10" name="Freeform 10"/>
            <p:cNvSpPr/>
            <p:nvPr/>
          </p:nvSpPr>
          <p:spPr>
            <a:xfrm>
              <a:off x="0" y="0"/>
              <a:ext cx="993276" cy="131409"/>
            </a:xfrm>
            <a:custGeom>
              <a:avLst/>
              <a:gdLst/>
              <a:ahLst/>
              <a:cxnLst/>
              <a:rect l="l" t="t" r="r" b="b"/>
              <a:pathLst>
                <a:path w="993276" h="131409">
                  <a:moveTo>
                    <a:pt x="0" y="0"/>
                  </a:moveTo>
                  <a:lnTo>
                    <a:pt x="993276" y="0"/>
                  </a:lnTo>
                  <a:lnTo>
                    <a:pt x="993276" y="131409"/>
                  </a:lnTo>
                  <a:lnTo>
                    <a:pt x="0" y="131409"/>
                  </a:lnTo>
                  <a:close/>
                </a:path>
              </a:pathLst>
            </a:custGeom>
            <a:solidFill>
              <a:srgbClr val="FFFFFF"/>
            </a:solidFill>
          </p:spPr>
          <p:txBody>
            <a:bodyPr/>
            <a:lstStyle/>
            <a:p>
              <a:endParaRPr lang="en-IN"/>
            </a:p>
          </p:txBody>
        </p:sp>
        <p:sp>
          <p:nvSpPr>
            <p:cNvPr id="11" name="TextBox 11"/>
            <p:cNvSpPr txBox="1"/>
            <p:nvPr/>
          </p:nvSpPr>
          <p:spPr>
            <a:xfrm>
              <a:off x="0" y="47625"/>
              <a:ext cx="993276" cy="83784"/>
            </a:xfrm>
            <a:prstGeom prst="rect">
              <a:avLst/>
            </a:prstGeom>
          </p:spPr>
          <p:txBody>
            <a:bodyPr lIns="50800" tIns="50800" rIns="50800" bIns="50800" rtlCol="0" anchor="ctr"/>
            <a:lstStyle/>
            <a:p>
              <a:pPr marL="0" lvl="0" indent="0" algn="ctr">
                <a:lnSpc>
                  <a:spcPts val="1508"/>
                </a:lnSpc>
              </a:pPr>
              <a:endParaRPr/>
            </a:p>
          </p:txBody>
        </p:sp>
      </p:grpSp>
      <p:sp>
        <p:nvSpPr>
          <p:cNvPr id="12" name="TextBox 12"/>
          <p:cNvSpPr txBox="1"/>
          <p:nvPr/>
        </p:nvSpPr>
        <p:spPr>
          <a:xfrm>
            <a:off x="11155648" y="3917703"/>
            <a:ext cx="3288615" cy="288762"/>
          </a:xfrm>
          <a:prstGeom prst="rect">
            <a:avLst/>
          </a:prstGeom>
        </p:spPr>
        <p:txBody>
          <a:bodyPr lIns="0" tIns="0" rIns="0" bIns="0" rtlCol="0" anchor="t">
            <a:spAutoFit/>
          </a:bodyPr>
          <a:lstStyle/>
          <a:p>
            <a:pPr marL="0" lvl="0" indent="0" algn="ctr">
              <a:lnSpc>
                <a:spcPts val="2458"/>
              </a:lnSpc>
            </a:pPr>
            <a:r>
              <a:rPr lang="en-US" sz="1756" b="1" spc="63">
                <a:solidFill>
                  <a:srgbClr val="011442"/>
                </a:solidFill>
                <a:latin typeface="Montserrat Bold"/>
                <a:ea typeface="Montserrat Bold"/>
                <a:cs typeface="Montserrat Bold"/>
                <a:sym typeface="Montserrat Bold"/>
              </a:rPr>
              <a:t>Digital Engagement Score</a:t>
            </a:r>
          </a:p>
        </p:txBody>
      </p:sp>
      <p:grpSp>
        <p:nvGrpSpPr>
          <p:cNvPr id="13" name="Group 13"/>
          <p:cNvGrpSpPr/>
          <p:nvPr/>
        </p:nvGrpSpPr>
        <p:grpSpPr>
          <a:xfrm>
            <a:off x="3445200" y="6500139"/>
            <a:ext cx="3771347" cy="498943"/>
            <a:chOff x="0" y="0"/>
            <a:chExt cx="993276" cy="131409"/>
          </a:xfrm>
        </p:grpSpPr>
        <p:sp>
          <p:nvSpPr>
            <p:cNvPr id="14" name="Freeform 14"/>
            <p:cNvSpPr/>
            <p:nvPr/>
          </p:nvSpPr>
          <p:spPr>
            <a:xfrm>
              <a:off x="0" y="0"/>
              <a:ext cx="993276" cy="131409"/>
            </a:xfrm>
            <a:custGeom>
              <a:avLst/>
              <a:gdLst/>
              <a:ahLst/>
              <a:cxnLst/>
              <a:rect l="l" t="t" r="r" b="b"/>
              <a:pathLst>
                <a:path w="993276" h="131409">
                  <a:moveTo>
                    <a:pt x="0" y="0"/>
                  </a:moveTo>
                  <a:lnTo>
                    <a:pt x="993276" y="0"/>
                  </a:lnTo>
                  <a:lnTo>
                    <a:pt x="993276" y="131409"/>
                  </a:lnTo>
                  <a:lnTo>
                    <a:pt x="0" y="131409"/>
                  </a:lnTo>
                  <a:close/>
                </a:path>
              </a:pathLst>
            </a:custGeom>
            <a:solidFill>
              <a:srgbClr val="FFFFFF"/>
            </a:solidFill>
          </p:spPr>
          <p:txBody>
            <a:bodyPr/>
            <a:lstStyle/>
            <a:p>
              <a:endParaRPr lang="en-IN"/>
            </a:p>
          </p:txBody>
        </p:sp>
        <p:sp>
          <p:nvSpPr>
            <p:cNvPr id="15" name="TextBox 15"/>
            <p:cNvSpPr txBox="1"/>
            <p:nvPr/>
          </p:nvSpPr>
          <p:spPr>
            <a:xfrm>
              <a:off x="0" y="47625"/>
              <a:ext cx="993276" cy="83784"/>
            </a:xfrm>
            <a:prstGeom prst="rect">
              <a:avLst/>
            </a:prstGeom>
          </p:spPr>
          <p:txBody>
            <a:bodyPr lIns="50800" tIns="50800" rIns="50800" bIns="50800" rtlCol="0" anchor="ctr"/>
            <a:lstStyle/>
            <a:p>
              <a:pPr marL="0" lvl="0" indent="0" algn="ctr">
                <a:lnSpc>
                  <a:spcPts val="1508"/>
                </a:lnSpc>
              </a:pPr>
              <a:endParaRPr/>
            </a:p>
          </p:txBody>
        </p:sp>
      </p:grpSp>
      <p:sp>
        <p:nvSpPr>
          <p:cNvPr id="16" name="TextBox 16"/>
          <p:cNvSpPr txBox="1"/>
          <p:nvPr/>
        </p:nvSpPr>
        <p:spPr>
          <a:xfrm>
            <a:off x="3686566" y="6537624"/>
            <a:ext cx="3288615" cy="288762"/>
          </a:xfrm>
          <a:prstGeom prst="rect">
            <a:avLst/>
          </a:prstGeom>
        </p:spPr>
        <p:txBody>
          <a:bodyPr lIns="0" tIns="0" rIns="0" bIns="0" rtlCol="0" anchor="t">
            <a:spAutoFit/>
          </a:bodyPr>
          <a:lstStyle/>
          <a:p>
            <a:pPr marL="0" lvl="0" indent="0" algn="ctr">
              <a:lnSpc>
                <a:spcPts val="2458"/>
              </a:lnSpc>
            </a:pPr>
            <a:r>
              <a:rPr lang="en-US" sz="1756" b="1" spc="63">
                <a:solidFill>
                  <a:srgbClr val="011442"/>
                </a:solidFill>
                <a:latin typeface="Montserrat Bold"/>
                <a:ea typeface="Montserrat Bold"/>
                <a:cs typeface="Montserrat Bold"/>
                <a:sym typeface="Montserrat Bold"/>
              </a:rPr>
              <a:t>Credit to Debit Ratio</a:t>
            </a:r>
          </a:p>
        </p:txBody>
      </p:sp>
      <p:grpSp>
        <p:nvGrpSpPr>
          <p:cNvPr id="17" name="Group 17"/>
          <p:cNvGrpSpPr/>
          <p:nvPr/>
        </p:nvGrpSpPr>
        <p:grpSpPr>
          <a:xfrm>
            <a:off x="10137584" y="6500139"/>
            <a:ext cx="5324744" cy="558011"/>
            <a:chOff x="0" y="0"/>
            <a:chExt cx="1402402" cy="146966"/>
          </a:xfrm>
        </p:grpSpPr>
        <p:sp>
          <p:nvSpPr>
            <p:cNvPr id="18" name="Freeform 18"/>
            <p:cNvSpPr/>
            <p:nvPr/>
          </p:nvSpPr>
          <p:spPr>
            <a:xfrm>
              <a:off x="0" y="0"/>
              <a:ext cx="1402402" cy="146966"/>
            </a:xfrm>
            <a:custGeom>
              <a:avLst/>
              <a:gdLst/>
              <a:ahLst/>
              <a:cxnLst/>
              <a:rect l="l" t="t" r="r" b="b"/>
              <a:pathLst>
                <a:path w="1402402" h="146966">
                  <a:moveTo>
                    <a:pt x="0" y="0"/>
                  </a:moveTo>
                  <a:lnTo>
                    <a:pt x="1402402" y="0"/>
                  </a:lnTo>
                  <a:lnTo>
                    <a:pt x="1402402" y="146966"/>
                  </a:lnTo>
                  <a:lnTo>
                    <a:pt x="0" y="146966"/>
                  </a:lnTo>
                  <a:close/>
                </a:path>
              </a:pathLst>
            </a:custGeom>
            <a:solidFill>
              <a:srgbClr val="FFFFFF"/>
            </a:solidFill>
          </p:spPr>
          <p:txBody>
            <a:bodyPr/>
            <a:lstStyle/>
            <a:p>
              <a:endParaRPr lang="en-IN"/>
            </a:p>
          </p:txBody>
        </p:sp>
        <p:sp>
          <p:nvSpPr>
            <p:cNvPr id="19" name="TextBox 19"/>
            <p:cNvSpPr txBox="1"/>
            <p:nvPr/>
          </p:nvSpPr>
          <p:spPr>
            <a:xfrm>
              <a:off x="0" y="47625"/>
              <a:ext cx="1402402" cy="99341"/>
            </a:xfrm>
            <a:prstGeom prst="rect">
              <a:avLst/>
            </a:prstGeom>
          </p:spPr>
          <p:txBody>
            <a:bodyPr lIns="50800" tIns="50800" rIns="50800" bIns="50800" rtlCol="0" anchor="ctr"/>
            <a:lstStyle/>
            <a:p>
              <a:pPr marL="0" lvl="0" indent="0" algn="ctr">
                <a:lnSpc>
                  <a:spcPts val="1508"/>
                </a:lnSpc>
              </a:pPr>
              <a:endParaRPr/>
            </a:p>
          </p:txBody>
        </p:sp>
      </p:grpSp>
      <p:sp>
        <p:nvSpPr>
          <p:cNvPr id="20" name="TextBox 20"/>
          <p:cNvSpPr txBox="1"/>
          <p:nvPr/>
        </p:nvSpPr>
        <p:spPr>
          <a:xfrm>
            <a:off x="9912008" y="6567158"/>
            <a:ext cx="5775896" cy="288762"/>
          </a:xfrm>
          <a:prstGeom prst="rect">
            <a:avLst/>
          </a:prstGeom>
        </p:spPr>
        <p:txBody>
          <a:bodyPr lIns="0" tIns="0" rIns="0" bIns="0" rtlCol="0" anchor="t">
            <a:spAutoFit/>
          </a:bodyPr>
          <a:lstStyle/>
          <a:p>
            <a:pPr marL="0" lvl="0" indent="0" algn="ctr">
              <a:lnSpc>
                <a:spcPts val="2458"/>
              </a:lnSpc>
            </a:pPr>
            <a:r>
              <a:rPr lang="en-US" sz="1756" b="1" spc="63">
                <a:solidFill>
                  <a:srgbClr val="011442"/>
                </a:solidFill>
                <a:latin typeface="Montserrat Bold"/>
                <a:ea typeface="Montserrat Bold"/>
                <a:cs typeface="Montserrat Bold"/>
                <a:sym typeface="Montserrat Bold"/>
              </a:rPr>
              <a:t>Mass Market Positioning</a:t>
            </a:r>
          </a:p>
        </p:txBody>
      </p:sp>
      <p:sp>
        <p:nvSpPr>
          <p:cNvPr id="21" name="TextBox 21"/>
          <p:cNvSpPr txBox="1"/>
          <p:nvPr/>
        </p:nvSpPr>
        <p:spPr>
          <a:xfrm>
            <a:off x="2600096" y="4436311"/>
            <a:ext cx="5324744" cy="142722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Average utilization below 70% indicates untapped credit capacity. This presents a significant marketing opportunity to encourage increased card usage through targeted promotions and rewards programs.</a:t>
            </a:r>
          </a:p>
        </p:txBody>
      </p:sp>
      <p:sp>
        <p:nvSpPr>
          <p:cNvPr id="22" name="TextBox 22"/>
          <p:cNvSpPr txBox="1"/>
          <p:nvPr/>
        </p:nvSpPr>
        <p:spPr>
          <a:xfrm>
            <a:off x="10137584" y="4436311"/>
            <a:ext cx="5324744" cy="114147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Current engagement at 60% shows room for improvement. Digital promotional campaigns and mobile app features can drive higher interaction rates and subsequently boost spending behavior.</a:t>
            </a:r>
          </a:p>
        </p:txBody>
      </p:sp>
      <p:sp>
        <p:nvSpPr>
          <p:cNvPr id="23" name="TextBox 23"/>
          <p:cNvSpPr txBox="1"/>
          <p:nvPr/>
        </p:nvSpPr>
        <p:spPr>
          <a:xfrm>
            <a:off x="10137584" y="7176517"/>
            <a:ext cx="5324744" cy="114147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Average spend of 388 with potential to increase to 450. Targeted campaigns for mass market segment can unlock significant revenue growth through personalized offers and incentives.</a:t>
            </a:r>
          </a:p>
        </p:txBody>
      </p:sp>
      <p:sp>
        <p:nvSpPr>
          <p:cNvPr id="24" name="TextBox 24"/>
          <p:cNvSpPr txBox="1"/>
          <p:nvPr/>
        </p:nvSpPr>
        <p:spPr>
          <a:xfrm>
            <a:off x="2600096" y="7176517"/>
            <a:ext cx="5324744" cy="114147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Ratio of 2.11 indicates profitable credit card preference over debit. Reward programs are effectively driving credit usage, presenting opportunity for enhanced loyalty initiatives.</a:t>
            </a:r>
          </a:p>
        </p:txBody>
      </p:sp>
      <p:sp>
        <p:nvSpPr>
          <p:cNvPr id="25" name="Freeform 25"/>
          <p:cNvSpPr/>
          <p:nvPr/>
        </p:nvSpPr>
        <p:spPr>
          <a:xfrm>
            <a:off x="-432037" y="9280018"/>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26" name="Freeform 26"/>
          <p:cNvSpPr/>
          <p:nvPr/>
        </p:nvSpPr>
        <p:spPr>
          <a:xfrm>
            <a:off x="11324240" y="390677"/>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1028700" y="1076233"/>
            <a:ext cx="293554" cy="293554"/>
          </a:xfrm>
          <a:custGeom>
            <a:avLst/>
            <a:gdLst/>
            <a:ahLst/>
            <a:cxnLst/>
            <a:rect l="l" t="t" r="r" b="b"/>
            <a:pathLst>
              <a:path w="293554" h="293554">
                <a:moveTo>
                  <a:pt x="0" y="0"/>
                </a:moveTo>
                <a:lnTo>
                  <a:pt x="293554" y="0"/>
                </a:lnTo>
                <a:lnTo>
                  <a:pt x="293554" y="293554"/>
                </a:lnTo>
                <a:lnTo>
                  <a:pt x="0" y="293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pic>
        <p:nvPicPr>
          <p:cNvPr id="3" name="Picture 3"/>
          <p:cNvPicPr>
            <a:picLocks noChangeAspect="1"/>
          </p:cNvPicPr>
          <p:nvPr/>
        </p:nvPicPr>
        <p:blipFill>
          <a:blip r:embed="rId4"/>
          <a:stretch>
            <a:fillRect/>
          </a:stretch>
        </p:blipFill>
        <p:spPr>
          <a:xfrm>
            <a:off x="480293" y="1708999"/>
            <a:ext cx="7515859" cy="7702853"/>
          </a:xfrm>
          <a:prstGeom prst="rect">
            <a:avLst/>
          </a:prstGeom>
        </p:spPr>
      </p:pic>
      <p:grpSp>
        <p:nvGrpSpPr>
          <p:cNvPr id="4" name="Group 4"/>
          <p:cNvGrpSpPr/>
          <p:nvPr/>
        </p:nvGrpSpPr>
        <p:grpSpPr>
          <a:xfrm>
            <a:off x="4238222" y="1450294"/>
            <a:ext cx="3689749" cy="368974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a:stretch>
            </a:blipFill>
            <a:ln w="180975" cap="sq">
              <a:solidFill>
                <a:srgbClr val="FFFFFF"/>
              </a:solidFill>
              <a:prstDash val="solid"/>
              <a:miter/>
            </a:ln>
          </p:spPr>
          <p:txBody>
            <a:bodyPr/>
            <a:lstStyle/>
            <a:p>
              <a:endParaRPr lang="en-IN"/>
            </a:p>
          </p:txBody>
        </p:sp>
      </p:grpSp>
      <p:sp>
        <p:nvSpPr>
          <p:cNvPr id="6" name="Freeform 6"/>
          <p:cNvSpPr/>
          <p:nvPr/>
        </p:nvSpPr>
        <p:spPr>
          <a:xfrm>
            <a:off x="12088642" y="451672"/>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7" name="Freeform 7"/>
          <p:cNvSpPr/>
          <p:nvPr/>
        </p:nvSpPr>
        <p:spPr>
          <a:xfrm>
            <a:off x="-432037" y="8846147"/>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8" name="TextBox 8"/>
          <p:cNvSpPr txBox="1"/>
          <p:nvPr/>
        </p:nvSpPr>
        <p:spPr>
          <a:xfrm>
            <a:off x="8589912" y="2569978"/>
            <a:ext cx="8669388" cy="1817675"/>
          </a:xfrm>
          <a:prstGeom prst="rect">
            <a:avLst/>
          </a:prstGeom>
        </p:spPr>
        <p:txBody>
          <a:bodyPr lIns="0" tIns="0" rIns="0" bIns="0" rtlCol="0" anchor="t">
            <a:spAutoFit/>
          </a:bodyPr>
          <a:lstStyle/>
          <a:p>
            <a:pPr marL="0" lvl="0" indent="0" algn="l">
              <a:lnSpc>
                <a:spcPts val="6854"/>
              </a:lnSpc>
            </a:pPr>
            <a:r>
              <a:rPr lang="en-US" sz="7701" b="1">
                <a:solidFill>
                  <a:srgbClr val="FFFFFF"/>
                </a:solidFill>
                <a:latin typeface="Barlow Bold"/>
                <a:ea typeface="Barlow Bold"/>
                <a:cs typeface="Barlow Bold"/>
                <a:sym typeface="Barlow Bold"/>
              </a:rPr>
              <a:t>KEY PERFORMANCE</a:t>
            </a:r>
          </a:p>
          <a:p>
            <a:pPr marL="0" lvl="0" indent="0" algn="l">
              <a:lnSpc>
                <a:spcPts val="6854"/>
              </a:lnSpc>
            </a:pPr>
            <a:r>
              <a:rPr lang="en-US" sz="7701" b="1">
                <a:solidFill>
                  <a:srgbClr val="FFFFFF"/>
                </a:solidFill>
                <a:latin typeface="Barlow Bold"/>
                <a:ea typeface="Barlow Bold"/>
                <a:cs typeface="Barlow Bold"/>
                <a:sym typeface="Barlow Bold"/>
              </a:rPr>
              <a:t>INDICATORS</a:t>
            </a:r>
          </a:p>
        </p:txBody>
      </p:sp>
      <p:sp>
        <p:nvSpPr>
          <p:cNvPr id="9" name="TextBox 9"/>
          <p:cNvSpPr txBox="1"/>
          <p:nvPr/>
        </p:nvSpPr>
        <p:spPr>
          <a:xfrm>
            <a:off x="8589912" y="4710932"/>
            <a:ext cx="8115300" cy="2901315"/>
          </a:xfrm>
          <a:prstGeom prst="rect">
            <a:avLst/>
          </a:prstGeom>
        </p:spPr>
        <p:txBody>
          <a:bodyPr lIns="0" tIns="0" rIns="0" bIns="0" rtlCol="0" anchor="t">
            <a:spAutoFit/>
          </a:bodyPr>
          <a:lstStyle/>
          <a:p>
            <a:pPr marL="0" lvl="0" indent="0" algn="just">
              <a:lnSpc>
                <a:spcPts val="2580"/>
              </a:lnSpc>
            </a:pPr>
            <a:r>
              <a:rPr lang="en-US" sz="2000" spc="-110">
                <a:solidFill>
                  <a:srgbClr val="FFFFFF"/>
                </a:solidFill>
                <a:latin typeface="Montserrat"/>
                <a:ea typeface="Montserrat"/>
                <a:cs typeface="Montserrat"/>
                <a:sym typeface="Montserrat"/>
              </a:rPr>
              <a:t>Inflow to Outflow Ratio: 1.13</a:t>
            </a:r>
          </a:p>
          <a:p>
            <a:pPr marL="0" lvl="0" indent="0" algn="just">
              <a:lnSpc>
                <a:spcPts val="2580"/>
              </a:lnSpc>
            </a:pPr>
            <a:r>
              <a:rPr lang="en-US" sz="2000" spc="-110">
                <a:solidFill>
                  <a:srgbClr val="FFFFFF"/>
                </a:solidFill>
                <a:latin typeface="Montserrat"/>
                <a:ea typeface="Montserrat"/>
                <a:cs typeface="Montserrat"/>
                <a:sym typeface="Montserrat"/>
              </a:rPr>
              <a:t>This indicates stable liquidity among customers, suggesting a healthy balance between income and expenses. This stability presents an opportunity for credit limit increases for qualified customers.</a:t>
            </a:r>
          </a:p>
          <a:p>
            <a:pPr marL="0" lvl="0" indent="0" algn="just">
              <a:lnSpc>
                <a:spcPts val="2580"/>
              </a:lnSpc>
            </a:pPr>
            <a:r>
              <a:rPr lang="en-US" sz="2000" spc="-110">
                <a:solidFill>
                  <a:srgbClr val="FFFFFF"/>
                </a:solidFill>
                <a:latin typeface="Montserrat"/>
                <a:ea typeface="Montserrat"/>
                <a:cs typeface="Montserrat"/>
                <a:sym typeface="Montserrat"/>
              </a:rPr>
              <a:t>Loan Burden Index: ~3%</a:t>
            </a:r>
          </a:p>
          <a:p>
            <a:pPr marL="0" lvl="0" indent="0" algn="just">
              <a:lnSpc>
                <a:spcPts val="2580"/>
              </a:lnSpc>
            </a:pPr>
            <a:r>
              <a:rPr lang="en-US" sz="2000" spc="-110">
                <a:solidFill>
                  <a:srgbClr val="FFFFFF"/>
                </a:solidFill>
                <a:latin typeface="Montserrat"/>
                <a:ea typeface="Montserrat"/>
                <a:cs typeface="Montserrat"/>
                <a:sym typeface="Montserrat"/>
              </a:rPr>
              <a:t>This metric indicates potential risk exposure in the customer base. While relatively low, it requires careful monitoring and explicit customer consent before offering additional loan products to maintain responsible lending practices.</a:t>
            </a:r>
          </a:p>
        </p:txBody>
      </p:sp>
      <p:sp>
        <p:nvSpPr>
          <p:cNvPr id="10" name="TextBox 10"/>
          <p:cNvSpPr txBox="1"/>
          <p:nvPr/>
        </p:nvSpPr>
        <p:spPr>
          <a:xfrm>
            <a:off x="1379852" y="1043352"/>
            <a:ext cx="1549500" cy="406889"/>
          </a:xfrm>
          <a:prstGeom prst="rect">
            <a:avLst/>
          </a:prstGeom>
        </p:spPr>
        <p:txBody>
          <a:bodyPr lIns="0" tIns="0" rIns="0" bIns="0" rtlCol="0" anchor="t">
            <a:spAutoFit/>
          </a:bodyPr>
          <a:lstStyle/>
          <a:p>
            <a:pPr marL="0" lvl="0" indent="0" algn="l">
              <a:lnSpc>
                <a:spcPts val="1507"/>
              </a:lnSpc>
            </a:pPr>
            <a:r>
              <a:rPr lang="en-US" sz="1753" b="1" spc="-96">
                <a:solidFill>
                  <a:srgbClr val="FFFFFF"/>
                </a:solidFill>
                <a:latin typeface="Montserrat Bold"/>
                <a:ea typeface="Montserrat Bold"/>
                <a:cs typeface="Montserrat Bold"/>
                <a:sym typeface="Montserrat Bold"/>
              </a:rPr>
              <a:t>CREDIT CARD FORECASTING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1027195" y="1076091"/>
            <a:ext cx="296489" cy="292284"/>
          </a:xfrm>
          <a:custGeom>
            <a:avLst/>
            <a:gdLst/>
            <a:ahLst/>
            <a:cxnLst/>
            <a:rect l="l" t="t" r="r" b="b"/>
            <a:pathLst>
              <a:path w="296489" h="292284">
                <a:moveTo>
                  <a:pt x="0" y="0"/>
                </a:moveTo>
                <a:lnTo>
                  <a:pt x="296489" y="0"/>
                </a:lnTo>
                <a:lnTo>
                  <a:pt x="296489" y="292283"/>
                </a:lnTo>
                <a:lnTo>
                  <a:pt x="0" y="292283"/>
                </a:lnTo>
                <a:lnTo>
                  <a:pt x="0" y="0"/>
                </a:lnTo>
                <a:close/>
              </a:path>
            </a:pathLst>
          </a:custGeom>
          <a:blipFill>
            <a:blip r:embed="rId2"/>
            <a:stretch>
              <a:fillRect/>
            </a:stretch>
          </a:blipFill>
        </p:spPr>
        <p:txBody>
          <a:bodyPr/>
          <a:lstStyle/>
          <a:p>
            <a:endParaRPr lang="en-IN"/>
          </a:p>
        </p:txBody>
      </p:sp>
      <p:grpSp>
        <p:nvGrpSpPr>
          <p:cNvPr id="3" name="Group 3"/>
          <p:cNvGrpSpPr/>
          <p:nvPr/>
        </p:nvGrpSpPr>
        <p:grpSpPr>
          <a:xfrm>
            <a:off x="3376795" y="3880219"/>
            <a:ext cx="3771347" cy="498943"/>
            <a:chOff x="0" y="0"/>
            <a:chExt cx="993276" cy="131409"/>
          </a:xfrm>
        </p:grpSpPr>
        <p:sp>
          <p:nvSpPr>
            <p:cNvPr id="4" name="Freeform 4"/>
            <p:cNvSpPr/>
            <p:nvPr/>
          </p:nvSpPr>
          <p:spPr>
            <a:xfrm>
              <a:off x="0" y="0"/>
              <a:ext cx="993276" cy="131409"/>
            </a:xfrm>
            <a:custGeom>
              <a:avLst/>
              <a:gdLst/>
              <a:ahLst/>
              <a:cxnLst/>
              <a:rect l="l" t="t" r="r" b="b"/>
              <a:pathLst>
                <a:path w="993276" h="131409">
                  <a:moveTo>
                    <a:pt x="0" y="0"/>
                  </a:moveTo>
                  <a:lnTo>
                    <a:pt x="993276" y="0"/>
                  </a:lnTo>
                  <a:lnTo>
                    <a:pt x="993276" y="131409"/>
                  </a:lnTo>
                  <a:lnTo>
                    <a:pt x="0" y="131409"/>
                  </a:lnTo>
                  <a:close/>
                </a:path>
              </a:pathLst>
            </a:custGeom>
            <a:solidFill>
              <a:srgbClr val="FFFFFF"/>
            </a:solidFill>
          </p:spPr>
          <p:txBody>
            <a:bodyPr/>
            <a:lstStyle/>
            <a:p>
              <a:endParaRPr lang="en-IN"/>
            </a:p>
          </p:txBody>
        </p:sp>
        <p:sp>
          <p:nvSpPr>
            <p:cNvPr id="5" name="TextBox 5"/>
            <p:cNvSpPr txBox="1"/>
            <p:nvPr/>
          </p:nvSpPr>
          <p:spPr>
            <a:xfrm>
              <a:off x="0" y="47625"/>
              <a:ext cx="993276" cy="83784"/>
            </a:xfrm>
            <a:prstGeom prst="rect">
              <a:avLst/>
            </a:prstGeom>
          </p:spPr>
          <p:txBody>
            <a:bodyPr lIns="50800" tIns="50800" rIns="50800" bIns="50800" rtlCol="0" anchor="ctr"/>
            <a:lstStyle/>
            <a:p>
              <a:pPr marL="0" lvl="0" indent="0" algn="ctr">
                <a:lnSpc>
                  <a:spcPts val="1508"/>
                </a:lnSpc>
              </a:pPr>
              <a:endParaRPr/>
            </a:p>
          </p:txBody>
        </p:sp>
      </p:grpSp>
      <p:sp>
        <p:nvSpPr>
          <p:cNvPr id="6" name="TextBox 6"/>
          <p:cNvSpPr txBox="1"/>
          <p:nvPr/>
        </p:nvSpPr>
        <p:spPr>
          <a:xfrm>
            <a:off x="4543342" y="1669369"/>
            <a:ext cx="9201316" cy="1886365"/>
          </a:xfrm>
          <a:prstGeom prst="rect">
            <a:avLst/>
          </a:prstGeom>
        </p:spPr>
        <p:txBody>
          <a:bodyPr lIns="0" tIns="0" rIns="0" bIns="0" rtlCol="0" anchor="t">
            <a:spAutoFit/>
          </a:bodyPr>
          <a:lstStyle/>
          <a:p>
            <a:pPr marL="0" lvl="0" indent="0" algn="ctr">
              <a:lnSpc>
                <a:spcPts val="7115"/>
              </a:lnSpc>
            </a:pPr>
            <a:r>
              <a:rPr lang="en-US" sz="7994" b="1">
                <a:solidFill>
                  <a:srgbClr val="FFFFFF"/>
                </a:solidFill>
                <a:latin typeface="Barlow Bold"/>
                <a:ea typeface="Barlow Bold"/>
                <a:cs typeface="Barlow Bold"/>
                <a:sym typeface="Barlow Bold"/>
              </a:rPr>
              <a:t>FEATURE TRANSFORMATION</a:t>
            </a:r>
          </a:p>
        </p:txBody>
      </p:sp>
      <p:sp>
        <p:nvSpPr>
          <p:cNvPr id="7" name="TextBox 7"/>
          <p:cNvSpPr txBox="1"/>
          <p:nvPr/>
        </p:nvSpPr>
        <p:spPr>
          <a:xfrm>
            <a:off x="1379852" y="1033827"/>
            <a:ext cx="1549500" cy="362728"/>
          </a:xfrm>
          <a:prstGeom prst="rect">
            <a:avLst/>
          </a:prstGeom>
        </p:spPr>
        <p:txBody>
          <a:bodyPr lIns="0" tIns="0" rIns="0" bIns="0" rtlCol="0" anchor="t">
            <a:spAutoFit/>
          </a:bodyPr>
          <a:lstStyle/>
          <a:p>
            <a:pPr marL="0" lvl="0" indent="0" algn="l">
              <a:lnSpc>
                <a:spcPts val="1326"/>
              </a:lnSpc>
            </a:pPr>
            <a:r>
              <a:rPr lang="en-US" sz="1542" b="1" spc="-84">
                <a:solidFill>
                  <a:srgbClr val="FFFFFF"/>
                </a:solidFill>
                <a:latin typeface="Montserrat Bold"/>
                <a:ea typeface="Montserrat Bold"/>
                <a:cs typeface="Montserrat Bold"/>
                <a:sym typeface="Montserrat Bold"/>
              </a:rPr>
              <a:t>CREDIT CARD FORECASTING</a:t>
            </a:r>
          </a:p>
        </p:txBody>
      </p:sp>
      <p:sp>
        <p:nvSpPr>
          <p:cNvPr id="8" name="TextBox 8"/>
          <p:cNvSpPr txBox="1"/>
          <p:nvPr/>
        </p:nvSpPr>
        <p:spPr>
          <a:xfrm>
            <a:off x="3618161" y="3908178"/>
            <a:ext cx="3288615" cy="355257"/>
          </a:xfrm>
          <a:prstGeom prst="rect">
            <a:avLst/>
          </a:prstGeom>
        </p:spPr>
        <p:txBody>
          <a:bodyPr lIns="0" tIns="0" rIns="0" bIns="0" rtlCol="0" anchor="t">
            <a:spAutoFit/>
          </a:bodyPr>
          <a:lstStyle/>
          <a:p>
            <a:pPr marL="0" lvl="0" indent="0" algn="ctr">
              <a:lnSpc>
                <a:spcPts val="2993"/>
              </a:lnSpc>
            </a:pPr>
            <a:r>
              <a:rPr lang="en-US" sz="2138" b="1" spc="76">
                <a:solidFill>
                  <a:srgbClr val="011442"/>
                </a:solidFill>
                <a:latin typeface="Montserrat Bold"/>
                <a:ea typeface="Montserrat Bold"/>
                <a:cs typeface="Montserrat Bold"/>
                <a:sym typeface="Montserrat Bold"/>
              </a:rPr>
              <a:t>Winsorization</a:t>
            </a:r>
          </a:p>
        </p:txBody>
      </p:sp>
      <p:grpSp>
        <p:nvGrpSpPr>
          <p:cNvPr id="9" name="Group 9"/>
          <p:cNvGrpSpPr/>
          <p:nvPr/>
        </p:nvGrpSpPr>
        <p:grpSpPr>
          <a:xfrm>
            <a:off x="10914282" y="3880219"/>
            <a:ext cx="3771347" cy="498943"/>
            <a:chOff x="0" y="0"/>
            <a:chExt cx="993276" cy="131409"/>
          </a:xfrm>
        </p:grpSpPr>
        <p:sp>
          <p:nvSpPr>
            <p:cNvPr id="10" name="Freeform 10"/>
            <p:cNvSpPr/>
            <p:nvPr/>
          </p:nvSpPr>
          <p:spPr>
            <a:xfrm>
              <a:off x="0" y="0"/>
              <a:ext cx="993276" cy="131409"/>
            </a:xfrm>
            <a:custGeom>
              <a:avLst/>
              <a:gdLst/>
              <a:ahLst/>
              <a:cxnLst/>
              <a:rect l="l" t="t" r="r" b="b"/>
              <a:pathLst>
                <a:path w="993276" h="131409">
                  <a:moveTo>
                    <a:pt x="0" y="0"/>
                  </a:moveTo>
                  <a:lnTo>
                    <a:pt x="993276" y="0"/>
                  </a:lnTo>
                  <a:lnTo>
                    <a:pt x="993276" y="131409"/>
                  </a:lnTo>
                  <a:lnTo>
                    <a:pt x="0" y="131409"/>
                  </a:lnTo>
                  <a:close/>
                </a:path>
              </a:pathLst>
            </a:custGeom>
            <a:solidFill>
              <a:srgbClr val="FFFFFF"/>
            </a:solidFill>
          </p:spPr>
          <p:txBody>
            <a:bodyPr/>
            <a:lstStyle/>
            <a:p>
              <a:endParaRPr lang="en-IN"/>
            </a:p>
          </p:txBody>
        </p:sp>
        <p:sp>
          <p:nvSpPr>
            <p:cNvPr id="11" name="TextBox 11"/>
            <p:cNvSpPr txBox="1"/>
            <p:nvPr/>
          </p:nvSpPr>
          <p:spPr>
            <a:xfrm>
              <a:off x="0" y="47625"/>
              <a:ext cx="993276" cy="83784"/>
            </a:xfrm>
            <a:prstGeom prst="rect">
              <a:avLst/>
            </a:prstGeom>
          </p:spPr>
          <p:txBody>
            <a:bodyPr lIns="50800" tIns="50800" rIns="50800" bIns="50800" rtlCol="0" anchor="ctr"/>
            <a:lstStyle/>
            <a:p>
              <a:pPr marL="0" lvl="0" indent="0" algn="ctr">
                <a:lnSpc>
                  <a:spcPts val="1508"/>
                </a:lnSpc>
              </a:pPr>
              <a:endParaRPr/>
            </a:p>
          </p:txBody>
        </p:sp>
      </p:grpSp>
      <p:sp>
        <p:nvSpPr>
          <p:cNvPr id="12" name="TextBox 12"/>
          <p:cNvSpPr txBox="1"/>
          <p:nvPr/>
        </p:nvSpPr>
        <p:spPr>
          <a:xfrm>
            <a:off x="11155648" y="3908178"/>
            <a:ext cx="3288615" cy="355257"/>
          </a:xfrm>
          <a:prstGeom prst="rect">
            <a:avLst/>
          </a:prstGeom>
        </p:spPr>
        <p:txBody>
          <a:bodyPr lIns="0" tIns="0" rIns="0" bIns="0" rtlCol="0" anchor="t">
            <a:spAutoFit/>
          </a:bodyPr>
          <a:lstStyle/>
          <a:p>
            <a:pPr marL="0" lvl="0" indent="0" algn="ctr">
              <a:lnSpc>
                <a:spcPts val="2993"/>
              </a:lnSpc>
            </a:pPr>
            <a:r>
              <a:rPr lang="en-US" sz="2138" b="1" spc="76">
                <a:solidFill>
                  <a:srgbClr val="011442"/>
                </a:solidFill>
                <a:latin typeface="Montserrat Bold"/>
                <a:ea typeface="Montserrat Bold"/>
                <a:cs typeface="Montserrat Bold"/>
                <a:sym typeface="Montserrat Bold"/>
              </a:rPr>
              <a:t>Logarithmic Scaling</a:t>
            </a:r>
          </a:p>
        </p:txBody>
      </p:sp>
      <p:grpSp>
        <p:nvGrpSpPr>
          <p:cNvPr id="13" name="Group 13"/>
          <p:cNvGrpSpPr/>
          <p:nvPr/>
        </p:nvGrpSpPr>
        <p:grpSpPr>
          <a:xfrm>
            <a:off x="3445200" y="6500139"/>
            <a:ext cx="3771347" cy="498943"/>
            <a:chOff x="0" y="0"/>
            <a:chExt cx="993276" cy="131409"/>
          </a:xfrm>
        </p:grpSpPr>
        <p:sp>
          <p:nvSpPr>
            <p:cNvPr id="14" name="Freeform 14"/>
            <p:cNvSpPr/>
            <p:nvPr/>
          </p:nvSpPr>
          <p:spPr>
            <a:xfrm>
              <a:off x="0" y="0"/>
              <a:ext cx="993276" cy="131409"/>
            </a:xfrm>
            <a:custGeom>
              <a:avLst/>
              <a:gdLst/>
              <a:ahLst/>
              <a:cxnLst/>
              <a:rect l="l" t="t" r="r" b="b"/>
              <a:pathLst>
                <a:path w="993276" h="131409">
                  <a:moveTo>
                    <a:pt x="0" y="0"/>
                  </a:moveTo>
                  <a:lnTo>
                    <a:pt x="993276" y="0"/>
                  </a:lnTo>
                  <a:lnTo>
                    <a:pt x="993276" y="131409"/>
                  </a:lnTo>
                  <a:lnTo>
                    <a:pt x="0" y="131409"/>
                  </a:lnTo>
                  <a:close/>
                </a:path>
              </a:pathLst>
            </a:custGeom>
            <a:solidFill>
              <a:srgbClr val="FFFFFF"/>
            </a:solidFill>
          </p:spPr>
          <p:txBody>
            <a:bodyPr/>
            <a:lstStyle/>
            <a:p>
              <a:endParaRPr lang="en-IN"/>
            </a:p>
          </p:txBody>
        </p:sp>
        <p:sp>
          <p:nvSpPr>
            <p:cNvPr id="15" name="TextBox 15"/>
            <p:cNvSpPr txBox="1"/>
            <p:nvPr/>
          </p:nvSpPr>
          <p:spPr>
            <a:xfrm>
              <a:off x="0" y="47625"/>
              <a:ext cx="993276" cy="83784"/>
            </a:xfrm>
            <a:prstGeom prst="rect">
              <a:avLst/>
            </a:prstGeom>
          </p:spPr>
          <p:txBody>
            <a:bodyPr lIns="50800" tIns="50800" rIns="50800" bIns="50800" rtlCol="0" anchor="ctr"/>
            <a:lstStyle/>
            <a:p>
              <a:pPr marL="0" lvl="0" indent="0" algn="ctr">
                <a:lnSpc>
                  <a:spcPts val="1508"/>
                </a:lnSpc>
              </a:pPr>
              <a:endParaRPr/>
            </a:p>
          </p:txBody>
        </p:sp>
      </p:grpSp>
      <p:sp>
        <p:nvSpPr>
          <p:cNvPr id="16" name="TextBox 16"/>
          <p:cNvSpPr txBox="1"/>
          <p:nvPr/>
        </p:nvSpPr>
        <p:spPr>
          <a:xfrm>
            <a:off x="3686566" y="6528099"/>
            <a:ext cx="3288615" cy="355257"/>
          </a:xfrm>
          <a:prstGeom prst="rect">
            <a:avLst/>
          </a:prstGeom>
        </p:spPr>
        <p:txBody>
          <a:bodyPr lIns="0" tIns="0" rIns="0" bIns="0" rtlCol="0" anchor="t">
            <a:spAutoFit/>
          </a:bodyPr>
          <a:lstStyle/>
          <a:p>
            <a:pPr marL="0" lvl="0" indent="0" algn="ctr">
              <a:lnSpc>
                <a:spcPts val="2993"/>
              </a:lnSpc>
            </a:pPr>
            <a:r>
              <a:rPr lang="en-US" sz="2138" b="1" spc="76">
                <a:solidFill>
                  <a:srgbClr val="011442"/>
                </a:solidFill>
                <a:latin typeface="Montserrat Bold"/>
                <a:ea typeface="Montserrat Bold"/>
                <a:cs typeface="Montserrat Bold"/>
                <a:sym typeface="Montserrat Bold"/>
              </a:rPr>
              <a:t>Categorical Encoding</a:t>
            </a:r>
          </a:p>
        </p:txBody>
      </p:sp>
      <p:grpSp>
        <p:nvGrpSpPr>
          <p:cNvPr id="17" name="Group 17"/>
          <p:cNvGrpSpPr/>
          <p:nvPr/>
        </p:nvGrpSpPr>
        <p:grpSpPr>
          <a:xfrm>
            <a:off x="10137584" y="6500139"/>
            <a:ext cx="5324744" cy="558011"/>
            <a:chOff x="0" y="0"/>
            <a:chExt cx="1402402" cy="146966"/>
          </a:xfrm>
        </p:grpSpPr>
        <p:sp>
          <p:nvSpPr>
            <p:cNvPr id="18" name="Freeform 18"/>
            <p:cNvSpPr/>
            <p:nvPr/>
          </p:nvSpPr>
          <p:spPr>
            <a:xfrm>
              <a:off x="0" y="0"/>
              <a:ext cx="1402402" cy="146966"/>
            </a:xfrm>
            <a:custGeom>
              <a:avLst/>
              <a:gdLst/>
              <a:ahLst/>
              <a:cxnLst/>
              <a:rect l="l" t="t" r="r" b="b"/>
              <a:pathLst>
                <a:path w="1402402" h="146966">
                  <a:moveTo>
                    <a:pt x="0" y="0"/>
                  </a:moveTo>
                  <a:lnTo>
                    <a:pt x="1402402" y="0"/>
                  </a:lnTo>
                  <a:lnTo>
                    <a:pt x="1402402" y="146966"/>
                  </a:lnTo>
                  <a:lnTo>
                    <a:pt x="0" y="146966"/>
                  </a:lnTo>
                  <a:close/>
                </a:path>
              </a:pathLst>
            </a:custGeom>
            <a:solidFill>
              <a:srgbClr val="FFFFFF"/>
            </a:solidFill>
          </p:spPr>
          <p:txBody>
            <a:bodyPr/>
            <a:lstStyle/>
            <a:p>
              <a:endParaRPr lang="en-IN"/>
            </a:p>
          </p:txBody>
        </p:sp>
        <p:sp>
          <p:nvSpPr>
            <p:cNvPr id="19" name="TextBox 19"/>
            <p:cNvSpPr txBox="1"/>
            <p:nvPr/>
          </p:nvSpPr>
          <p:spPr>
            <a:xfrm>
              <a:off x="0" y="47625"/>
              <a:ext cx="1402402" cy="99341"/>
            </a:xfrm>
            <a:prstGeom prst="rect">
              <a:avLst/>
            </a:prstGeom>
          </p:spPr>
          <p:txBody>
            <a:bodyPr lIns="50800" tIns="50800" rIns="50800" bIns="50800" rtlCol="0" anchor="ctr"/>
            <a:lstStyle/>
            <a:p>
              <a:pPr marL="0" lvl="0" indent="0" algn="ctr">
                <a:lnSpc>
                  <a:spcPts val="1508"/>
                </a:lnSpc>
              </a:pPr>
              <a:endParaRPr/>
            </a:p>
          </p:txBody>
        </p:sp>
      </p:grpSp>
      <p:sp>
        <p:nvSpPr>
          <p:cNvPr id="20" name="TextBox 20"/>
          <p:cNvSpPr txBox="1"/>
          <p:nvPr/>
        </p:nvSpPr>
        <p:spPr>
          <a:xfrm>
            <a:off x="9912008" y="6557633"/>
            <a:ext cx="5775896" cy="355257"/>
          </a:xfrm>
          <a:prstGeom prst="rect">
            <a:avLst/>
          </a:prstGeom>
        </p:spPr>
        <p:txBody>
          <a:bodyPr lIns="0" tIns="0" rIns="0" bIns="0" rtlCol="0" anchor="t">
            <a:spAutoFit/>
          </a:bodyPr>
          <a:lstStyle/>
          <a:p>
            <a:pPr marL="0" lvl="0" indent="0" algn="ctr">
              <a:lnSpc>
                <a:spcPts val="2993"/>
              </a:lnSpc>
            </a:pPr>
            <a:r>
              <a:rPr lang="en-US" sz="2138" b="1" spc="76">
                <a:solidFill>
                  <a:srgbClr val="011442"/>
                </a:solidFill>
                <a:latin typeface="Montserrat Bold"/>
                <a:ea typeface="Montserrat Bold"/>
                <a:cs typeface="Montserrat Bold"/>
                <a:sym typeface="Montserrat Bold"/>
              </a:rPr>
              <a:t>Before/After Comparison</a:t>
            </a:r>
          </a:p>
        </p:txBody>
      </p:sp>
      <p:sp>
        <p:nvSpPr>
          <p:cNvPr id="21" name="TextBox 21"/>
          <p:cNvSpPr txBox="1"/>
          <p:nvPr/>
        </p:nvSpPr>
        <p:spPr>
          <a:xfrm>
            <a:off x="2600096" y="4436311"/>
            <a:ext cx="5324744" cy="114147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Capped top 1% of spenders at 40,000 to reduce the impact of extreme outliers and noise in the dataset. This technique preserves data integrity while minimizing distortion from high-value anomalies.</a:t>
            </a:r>
          </a:p>
        </p:txBody>
      </p:sp>
      <p:sp>
        <p:nvSpPr>
          <p:cNvPr id="22" name="TextBox 22"/>
          <p:cNvSpPr txBox="1"/>
          <p:nvPr/>
        </p:nvSpPr>
        <p:spPr>
          <a:xfrm>
            <a:off x="10137584" y="4436311"/>
            <a:ext cx="5324744" cy="114147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Applied log transformation to the target variable to normalize the heavily right-skewed spend distribution. This stabilizes variance and improves model performance on regression tasks.</a:t>
            </a:r>
          </a:p>
        </p:txBody>
      </p:sp>
      <p:sp>
        <p:nvSpPr>
          <p:cNvPr id="23" name="TextBox 23"/>
          <p:cNvSpPr txBox="1"/>
          <p:nvPr/>
        </p:nvSpPr>
        <p:spPr>
          <a:xfrm>
            <a:off x="10137584" y="7176517"/>
            <a:ext cx="5324744" cy="114147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After transformation, spend distribution shifted from highly skewed (max 160,735) to normalized range. Histogram comparison shows successful reduction in variance and improved data symmetry.</a:t>
            </a:r>
          </a:p>
        </p:txBody>
      </p:sp>
      <p:sp>
        <p:nvSpPr>
          <p:cNvPr id="24" name="TextBox 24"/>
          <p:cNvSpPr txBox="1"/>
          <p:nvPr/>
        </p:nvSpPr>
        <p:spPr>
          <a:xfrm>
            <a:off x="2600096" y="7176517"/>
            <a:ext cx="5324744" cy="1427226"/>
          </a:xfrm>
          <a:prstGeom prst="rect">
            <a:avLst/>
          </a:prstGeom>
        </p:spPr>
        <p:txBody>
          <a:bodyPr lIns="0" tIns="0" rIns="0" bIns="0" rtlCol="0" anchor="t">
            <a:spAutoFit/>
          </a:bodyPr>
          <a:lstStyle/>
          <a:p>
            <a:pPr marL="0" lvl="0" indent="0" algn="just">
              <a:lnSpc>
                <a:spcPts val="2322"/>
              </a:lnSpc>
              <a:spcBef>
                <a:spcPct val="0"/>
              </a:spcBef>
            </a:pPr>
            <a:r>
              <a:rPr lang="en-US" sz="1800" spc="-99">
                <a:solidFill>
                  <a:srgbClr val="FFFFFF"/>
                </a:solidFill>
                <a:latin typeface="Montserrat"/>
                <a:ea typeface="Montserrat"/>
                <a:cs typeface="Montserrat"/>
                <a:sym typeface="Montserrat"/>
              </a:rPr>
              <a:t>Converted categorical variables including income brackets, gender, and account type into numeric format using label encoding. This enables machine learning algorithms to process non-numeric features effectively.</a:t>
            </a:r>
          </a:p>
        </p:txBody>
      </p:sp>
      <p:sp>
        <p:nvSpPr>
          <p:cNvPr id="25" name="Freeform 25"/>
          <p:cNvSpPr/>
          <p:nvPr/>
        </p:nvSpPr>
        <p:spPr>
          <a:xfrm>
            <a:off x="-432037" y="9280018"/>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26" name="Freeform 26"/>
          <p:cNvSpPr/>
          <p:nvPr/>
        </p:nvSpPr>
        <p:spPr>
          <a:xfrm>
            <a:off x="11324240" y="390677"/>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988448" y="1099994"/>
            <a:ext cx="373368" cy="245416"/>
          </a:xfrm>
          <a:custGeom>
            <a:avLst/>
            <a:gdLst/>
            <a:ahLst/>
            <a:cxnLst/>
            <a:rect l="l" t="t" r="r" b="b"/>
            <a:pathLst>
              <a:path w="373368" h="245416">
                <a:moveTo>
                  <a:pt x="0" y="0"/>
                </a:moveTo>
                <a:lnTo>
                  <a:pt x="373368" y="0"/>
                </a:lnTo>
                <a:lnTo>
                  <a:pt x="373368" y="245416"/>
                </a:lnTo>
                <a:lnTo>
                  <a:pt x="0" y="245416"/>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1175132" y="2339861"/>
            <a:ext cx="8669388" cy="1772979"/>
          </a:xfrm>
          <a:prstGeom prst="rect">
            <a:avLst/>
          </a:prstGeom>
        </p:spPr>
        <p:txBody>
          <a:bodyPr lIns="0" tIns="0" rIns="0" bIns="0" rtlCol="0" anchor="t">
            <a:spAutoFit/>
          </a:bodyPr>
          <a:lstStyle/>
          <a:p>
            <a:pPr marL="0" lvl="0" indent="0" algn="l">
              <a:lnSpc>
                <a:spcPts val="6705"/>
              </a:lnSpc>
            </a:pPr>
            <a:r>
              <a:rPr lang="en-US" sz="7533" b="1">
                <a:solidFill>
                  <a:srgbClr val="FFFFFF"/>
                </a:solidFill>
                <a:latin typeface="Barlow Bold"/>
                <a:ea typeface="Barlow Bold"/>
                <a:cs typeface="Barlow Bold"/>
                <a:sym typeface="Barlow Bold"/>
              </a:rPr>
              <a:t>MODEL EVALUATION OVERVIEW</a:t>
            </a:r>
          </a:p>
        </p:txBody>
      </p:sp>
      <p:sp>
        <p:nvSpPr>
          <p:cNvPr id="4" name="TextBox 4"/>
          <p:cNvSpPr txBox="1"/>
          <p:nvPr/>
        </p:nvSpPr>
        <p:spPr>
          <a:xfrm>
            <a:off x="1175132" y="5981700"/>
            <a:ext cx="7047662" cy="2313903"/>
          </a:xfrm>
          <a:prstGeom prst="rect">
            <a:avLst/>
          </a:prstGeom>
        </p:spPr>
        <p:txBody>
          <a:bodyPr lIns="0" tIns="0" rIns="0" bIns="0" rtlCol="0" anchor="t">
            <a:spAutoFit/>
          </a:bodyPr>
          <a:lstStyle/>
          <a:p>
            <a:pPr marL="0" lvl="0" indent="0" algn="just">
              <a:lnSpc>
                <a:spcPts val="2578"/>
              </a:lnSpc>
            </a:pPr>
            <a:r>
              <a:rPr lang="en-US" sz="1998" spc="-109" dirty="0">
                <a:solidFill>
                  <a:srgbClr val="FFFFFF"/>
                </a:solidFill>
                <a:latin typeface="Montserrat"/>
                <a:ea typeface="Montserrat"/>
                <a:cs typeface="Montserrat"/>
                <a:sym typeface="Montserrat"/>
              </a:rPr>
              <a:t>Tested 6 regression algorithms to predict credit card spending: Linear Regression, Random Forest, AdaBoost, Gradient Boosting, Decision Tree, and XGBoost. Metrics evaluated include RMSE and RMSE Percentage on inverse log-transformed target values. Initial best performer: </a:t>
            </a:r>
            <a:r>
              <a:rPr lang="en-US" sz="1998" b="1" spc="-109" dirty="0">
                <a:solidFill>
                  <a:srgbClr val="FF0000"/>
                </a:solidFill>
                <a:latin typeface="Montserrat"/>
                <a:ea typeface="Montserrat"/>
                <a:cs typeface="Montserrat"/>
                <a:sym typeface="Montserrat"/>
              </a:rPr>
              <a:t>Gradient Boosting</a:t>
            </a:r>
            <a:r>
              <a:rPr lang="en-US" sz="1998" spc="-109" dirty="0">
                <a:solidFill>
                  <a:srgbClr val="FFFFFF"/>
                </a:solidFill>
                <a:latin typeface="Montserrat"/>
                <a:ea typeface="Montserrat"/>
                <a:cs typeface="Montserrat"/>
                <a:sym typeface="Montserrat"/>
              </a:rPr>
              <a:t> with </a:t>
            </a:r>
            <a:r>
              <a:rPr lang="en-US" sz="1998" b="1" spc="-109" dirty="0">
                <a:solidFill>
                  <a:srgbClr val="FF0000"/>
                </a:solidFill>
                <a:latin typeface="Montserrat"/>
                <a:ea typeface="Montserrat"/>
                <a:cs typeface="Montserrat"/>
                <a:sym typeface="Montserrat"/>
              </a:rPr>
              <a:t>RMSE% of 37.43%, </a:t>
            </a:r>
            <a:r>
              <a:rPr lang="en-US" sz="1998" spc="-109" dirty="0">
                <a:solidFill>
                  <a:srgbClr val="FFFFFF"/>
                </a:solidFill>
                <a:latin typeface="Montserrat"/>
                <a:ea typeface="Montserrat"/>
                <a:cs typeface="Montserrat"/>
                <a:sym typeface="Montserrat"/>
              </a:rPr>
              <a:t>followed closely by Random Forest.</a:t>
            </a:r>
          </a:p>
        </p:txBody>
      </p:sp>
      <p:sp>
        <p:nvSpPr>
          <p:cNvPr id="5" name="TextBox 5"/>
          <p:cNvSpPr txBox="1"/>
          <p:nvPr/>
        </p:nvSpPr>
        <p:spPr>
          <a:xfrm>
            <a:off x="1379852" y="1043352"/>
            <a:ext cx="1549500" cy="596292"/>
          </a:xfrm>
          <a:prstGeom prst="rect">
            <a:avLst/>
          </a:prstGeom>
        </p:spPr>
        <p:txBody>
          <a:bodyPr lIns="0" tIns="0" rIns="0" bIns="0" rtlCol="0" anchor="t">
            <a:spAutoFit/>
          </a:bodyPr>
          <a:lstStyle/>
          <a:p>
            <a:pPr marL="0" lvl="0" indent="0" algn="l">
              <a:lnSpc>
                <a:spcPts val="1507"/>
              </a:lnSpc>
            </a:pPr>
            <a:r>
              <a:rPr lang="en-US" sz="1753" b="1" spc="-96">
                <a:solidFill>
                  <a:srgbClr val="FFFFFF"/>
                </a:solidFill>
                <a:latin typeface="Montserrat Bold"/>
                <a:ea typeface="Montserrat Bold"/>
                <a:cs typeface="Montserrat Bold"/>
                <a:sym typeface="Montserrat Bold"/>
              </a:rPr>
              <a:t>CREDIT CARD EXPENDITURE FORECASTING</a:t>
            </a:r>
          </a:p>
        </p:txBody>
      </p:sp>
      <p:sp>
        <p:nvSpPr>
          <p:cNvPr id="7" name="Freeform 7"/>
          <p:cNvSpPr/>
          <p:nvPr/>
        </p:nvSpPr>
        <p:spPr>
          <a:xfrm>
            <a:off x="-432037" y="8653250"/>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Oval 7">
            <a:extLst>
              <a:ext uri="{FF2B5EF4-FFF2-40B4-BE49-F238E27FC236}">
                <a16:creationId xmlns:a16="http://schemas.microsoft.com/office/drawing/2014/main" id="{3CA4E514-90B8-30B8-B28F-DEC7626A9020}"/>
              </a:ext>
            </a:extLst>
          </p:cNvPr>
          <p:cNvSpPr/>
          <p:nvPr/>
        </p:nvSpPr>
        <p:spPr>
          <a:xfrm>
            <a:off x="9144000" y="1099994"/>
            <a:ext cx="7764148" cy="373870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5400" b="1" dirty="0">
                <a:latin typeface="Times New Roman" panose="02020603050405020304" pitchFamily="18" charset="0"/>
                <a:cs typeface="Times New Roman" panose="02020603050405020304" pitchFamily="18" charset="0"/>
              </a:rPr>
              <a:t>Gradient Boosting Model  </a:t>
            </a:r>
          </a:p>
        </p:txBody>
      </p:sp>
      <p:sp>
        <p:nvSpPr>
          <p:cNvPr id="9" name="Oval 8">
            <a:extLst>
              <a:ext uri="{FF2B5EF4-FFF2-40B4-BE49-F238E27FC236}">
                <a16:creationId xmlns:a16="http://schemas.microsoft.com/office/drawing/2014/main" id="{262AC531-F379-E917-DCEE-66735E58EDCD}"/>
              </a:ext>
            </a:extLst>
          </p:cNvPr>
          <p:cNvSpPr/>
          <p:nvPr/>
        </p:nvSpPr>
        <p:spPr>
          <a:xfrm>
            <a:off x="9348720" y="5120256"/>
            <a:ext cx="7764148" cy="406675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500" b="1" dirty="0">
                <a:latin typeface="Times New Roman" panose="02020603050405020304" pitchFamily="18" charset="0"/>
                <a:cs typeface="Times New Roman" panose="02020603050405020304" pitchFamily="18" charset="0"/>
              </a:rPr>
              <a:t>RMSE </a:t>
            </a:r>
          </a:p>
          <a:p>
            <a:pPr algn="ctr"/>
            <a:r>
              <a:rPr lang="en-IN" sz="4500" dirty="0">
                <a:latin typeface="Times New Roman" panose="02020603050405020304" pitchFamily="18" charset="0"/>
                <a:cs typeface="Times New Roman" panose="02020603050405020304" pitchFamily="18" charset="0"/>
              </a:rPr>
              <a:t>37.43%</a:t>
            </a:r>
          </a:p>
        </p:txBody>
      </p:sp>
      <p:sp>
        <p:nvSpPr>
          <p:cNvPr id="10" name="Arrow: Down 9">
            <a:extLst>
              <a:ext uri="{FF2B5EF4-FFF2-40B4-BE49-F238E27FC236}">
                <a16:creationId xmlns:a16="http://schemas.microsoft.com/office/drawing/2014/main" id="{13A81E09-06BC-DBFC-A19A-A4E233205C8B}"/>
              </a:ext>
            </a:extLst>
          </p:cNvPr>
          <p:cNvSpPr/>
          <p:nvPr/>
        </p:nvSpPr>
        <p:spPr>
          <a:xfrm>
            <a:off x="13026074" y="4838700"/>
            <a:ext cx="461326" cy="914400"/>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IN">
              <a:ln w="0"/>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1028700" y="1076233"/>
            <a:ext cx="293554" cy="293554"/>
          </a:xfrm>
          <a:custGeom>
            <a:avLst/>
            <a:gdLst/>
            <a:ahLst/>
            <a:cxnLst/>
            <a:rect l="l" t="t" r="r" b="b"/>
            <a:pathLst>
              <a:path w="293554" h="293554">
                <a:moveTo>
                  <a:pt x="0" y="0"/>
                </a:moveTo>
                <a:lnTo>
                  <a:pt x="293554" y="0"/>
                </a:lnTo>
                <a:lnTo>
                  <a:pt x="293554" y="293554"/>
                </a:lnTo>
                <a:lnTo>
                  <a:pt x="0" y="293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028700" y="1933978"/>
            <a:ext cx="6419044" cy="641904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4"/>
              <a:stretch>
                <a:fillRect/>
              </a:stretch>
            </a:blipFill>
            <a:ln w="85725" cap="sq">
              <a:solidFill>
                <a:srgbClr val="FFFFFF"/>
              </a:solidFill>
              <a:prstDash val="solid"/>
              <a:miter/>
            </a:ln>
          </p:spPr>
          <p:txBody>
            <a:bodyPr/>
            <a:lstStyle/>
            <a:p>
              <a:endParaRPr lang="en-IN"/>
            </a:p>
          </p:txBody>
        </p:sp>
      </p:grpSp>
      <p:grpSp>
        <p:nvGrpSpPr>
          <p:cNvPr id="5" name="Group 5"/>
          <p:cNvGrpSpPr/>
          <p:nvPr/>
        </p:nvGrpSpPr>
        <p:grpSpPr>
          <a:xfrm>
            <a:off x="1181100" y="5448300"/>
            <a:ext cx="3057122" cy="305712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a:stretch>
            </a:blipFill>
            <a:ln w="85725" cap="sq">
              <a:solidFill>
                <a:srgbClr val="FFFFFF"/>
              </a:solidFill>
              <a:prstDash val="solid"/>
              <a:miter/>
            </a:ln>
          </p:spPr>
          <p:txBody>
            <a:bodyPr/>
            <a:lstStyle/>
            <a:p>
              <a:endParaRPr lang="en-IN"/>
            </a:p>
          </p:txBody>
        </p:sp>
      </p:grpSp>
      <p:sp>
        <p:nvSpPr>
          <p:cNvPr id="7" name="Freeform 7"/>
          <p:cNvSpPr/>
          <p:nvPr/>
        </p:nvSpPr>
        <p:spPr>
          <a:xfrm>
            <a:off x="11249180" y="240194"/>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8" name="Freeform 8"/>
          <p:cNvSpPr/>
          <p:nvPr/>
        </p:nvSpPr>
        <p:spPr>
          <a:xfrm>
            <a:off x="301741" y="8653250"/>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9" name="TextBox 9"/>
          <p:cNvSpPr txBox="1"/>
          <p:nvPr/>
        </p:nvSpPr>
        <p:spPr>
          <a:xfrm>
            <a:off x="8382000" y="2569978"/>
            <a:ext cx="8877300" cy="1862614"/>
          </a:xfrm>
          <a:prstGeom prst="rect">
            <a:avLst/>
          </a:prstGeom>
        </p:spPr>
        <p:txBody>
          <a:bodyPr wrap="square" lIns="0" tIns="0" rIns="0" bIns="0" rtlCol="0" anchor="t">
            <a:spAutoFit/>
          </a:bodyPr>
          <a:lstStyle/>
          <a:p>
            <a:pPr marL="0" lvl="0" indent="0" algn="l">
              <a:lnSpc>
                <a:spcPts val="7008"/>
              </a:lnSpc>
            </a:pPr>
            <a:r>
              <a:rPr lang="en-US" sz="7875" b="1" dirty="0">
                <a:solidFill>
                  <a:srgbClr val="FFFFFF"/>
                </a:solidFill>
                <a:latin typeface="Barlow Bold"/>
                <a:ea typeface="Barlow Bold"/>
                <a:cs typeface="Barlow Bold"/>
                <a:sym typeface="Barlow Bold"/>
              </a:rPr>
              <a:t>HYPERPARAMETER TUNING RESULTS</a:t>
            </a:r>
          </a:p>
        </p:txBody>
      </p:sp>
      <p:sp>
        <p:nvSpPr>
          <p:cNvPr id="10" name="TextBox 10"/>
          <p:cNvSpPr txBox="1"/>
          <p:nvPr/>
        </p:nvSpPr>
        <p:spPr>
          <a:xfrm>
            <a:off x="8589912" y="4710932"/>
            <a:ext cx="8115300" cy="3314241"/>
          </a:xfrm>
          <a:prstGeom prst="rect">
            <a:avLst/>
          </a:prstGeom>
        </p:spPr>
        <p:txBody>
          <a:bodyPr lIns="0" tIns="0" rIns="0" bIns="0" rtlCol="0" anchor="t">
            <a:spAutoFit/>
          </a:bodyPr>
          <a:lstStyle/>
          <a:p>
            <a:pPr marL="0" lvl="0" indent="0" algn="just">
              <a:lnSpc>
                <a:spcPts val="2580"/>
              </a:lnSpc>
            </a:pPr>
            <a:r>
              <a:rPr lang="en-US" sz="2000" spc="-110" dirty="0">
                <a:solidFill>
                  <a:srgbClr val="FFFFFF"/>
                </a:solidFill>
                <a:latin typeface="Montserrat"/>
                <a:ea typeface="Montserrat"/>
                <a:cs typeface="Montserrat"/>
                <a:sym typeface="Montserrat"/>
              </a:rPr>
              <a:t>GridSearchCV with 5-Fold Cross-Validation</a:t>
            </a:r>
          </a:p>
          <a:p>
            <a:pPr marL="0" lvl="0" indent="0" algn="just">
              <a:lnSpc>
                <a:spcPts val="2580"/>
              </a:lnSpc>
            </a:pPr>
            <a:r>
              <a:rPr lang="en-US" sz="2000" spc="-110" dirty="0">
                <a:solidFill>
                  <a:srgbClr val="FFFFFF"/>
                </a:solidFill>
                <a:latin typeface="Montserrat"/>
                <a:ea typeface="Montserrat"/>
                <a:cs typeface="Montserrat"/>
                <a:sym typeface="Montserrat"/>
              </a:rPr>
              <a:t>Systematically searched optimal combinations across </a:t>
            </a:r>
            <a:r>
              <a:rPr lang="en-US" sz="2000" spc="-110" dirty="0" err="1">
                <a:solidFill>
                  <a:srgbClr val="FFFFFF"/>
                </a:solidFill>
                <a:latin typeface="Montserrat"/>
                <a:ea typeface="Montserrat"/>
                <a:cs typeface="Montserrat"/>
                <a:sym typeface="Montserrat"/>
              </a:rPr>
              <a:t>learning_rate</a:t>
            </a:r>
            <a:r>
              <a:rPr lang="en-US" sz="2000" spc="-110" dirty="0">
                <a:solidFill>
                  <a:srgbClr val="FFFFFF"/>
                </a:solidFill>
                <a:latin typeface="Montserrat"/>
                <a:ea typeface="Montserrat"/>
                <a:cs typeface="Montserrat"/>
                <a:sym typeface="Montserrat"/>
              </a:rPr>
              <a:t>, </a:t>
            </a:r>
            <a:r>
              <a:rPr lang="en-US" sz="2000" spc="-110" dirty="0" err="1">
                <a:solidFill>
                  <a:srgbClr val="FFFFFF"/>
                </a:solidFill>
                <a:latin typeface="Montserrat"/>
                <a:ea typeface="Montserrat"/>
                <a:cs typeface="Montserrat"/>
                <a:sym typeface="Montserrat"/>
              </a:rPr>
              <a:t>n_estimators</a:t>
            </a:r>
            <a:r>
              <a:rPr lang="en-US" sz="2000" spc="-110" dirty="0">
                <a:solidFill>
                  <a:srgbClr val="FFFFFF"/>
                </a:solidFill>
                <a:latin typeface="Montserrat"/>
                <a:ea typeface="Montserrat"/>
                <a:cs typeface="Montserrat"/>
                <a:sym typeface="Montserrat"/>
              </a:rPr>
              <a:t>, </a:t>
            </a:r>
            <a:r>
              <a:rPr lang="en-US" sz="2000" spc="-110" dirty="0" err="1">
                <a:solidFill>
                  <a:srgbClr val="FFFFFF"/>
                </a:solidFill>
                <a:latin typeface="Montserrat"/>
                <a:ea typeface="Montserrat"/>
                <a:cs typeface="Montserrat"/>
                <a:sym typeface="Montserrat"/>
              </a:rPr>
              <a:t>max_depth</a:t>
            </a:r>
            <a:r>
              <a:rPr lang="en-US" sz="2000" spc="-110" dirty="0">
                <a:solidFill>
                  <a:srgbClr val="FFFFFF"/>
                </a:solidFill>
                <a:latin typeface="Montserrat"/>
                <a:ea typeface="Montserrat"/>
                <a:cs typeface="Montserrat"/>
                <a:sym typeface="Montserrat"/>
              </a:rPr>
              <a:t>, and subsample parameters.</a:t>
            </a:r>
          </a:p>
          <a:p>
            <a:pPr marL="0" lvl="0" indent="0" algn="just">
              <a:lnSpc>
                <a:spcPts val="2580"/>
              </a:lnSpc>
            </a:pPr>
            <a:r>
              <a:rPr lang="en-US" sz="2000" spc="-110" dirty="0">
                <a:solidFill>
                  <a:srgbClr val="FFFFFF"/>
                </a:solidFill>
                <a:latin typeface="Montserrat"/>
                <a:ea typeface="Montserrat"/>
                <a:cs typeface="Montserrat"/>
                <a:sym typeface="Montserrat"/>
              </a:rPr>
              <a:t>Optimal Parameters Identified</a:t>
            </a:r>
          </a:p>
          <a:p>
            <a:pPr marL="0" lvl="0" indent="0" algn="just">
              <a:lnSpc>
                <a:spcPts val="2580"/>
              </a:lnSpc>
            </a:pPr>
            <a:r>
              <a:rPr lang="en-US" sz="2000" spc="-110" dirty="0">
                <a:solidFill>
                  <a:srgbClr val="FFFFFF"/>
                </a:solidFill>
                <a:latin typeface="Montserrat"/>
                <a:ea typeface="Montserrat"/>
                <a:cs typeface="Montserrat"/>
                <a:sym typeface="Montserrat"/>
              </a:rPr>
              <a:t>• Learning Rate: 0.01 (slower, more precise learning)</a:t>
            </a:r>
          </a:p>
          <a:p>
            <a:pPr marL="0" lvl="0" indent="0" algn="just">
              <a:lnSpc>
                <a:spcPts val="2580"/>
              </a:lnSpc>
            </a:pPr>
            <a:r>
              <a:rPr lang="en-US" sz="2000" spc="-110" dirty="0">
                <a:solidFill>
                  <a:srgbClr val="FFFFFF"/>
                </a:solidFill>
                <a:latin typeface="Montserrat"/>
                <a:ea typeface="Montserrat"/>
                <a:cs typeface="Montserrat"/>
                <a:sym typeface="Montserrat"/>
              </a:rPr>
              <a:t>• </a:t>
            </a:r>
            <a:r>
              <a:rPr lang="en-US" sz="2000" spc="-110" dirty="0" err="1">
                <a:solidFill>
                  <a:srgbClr val="FFFFFF"/>
                </a:solidFill>
                <a:latin typeface="Montserrat"/>
                <a:ea typeface="Montserrat"/>
                <a:cs typeface="Montserrat"/>
                <a:sym typeface="Montserrat"/>
              </a:rPr>
              <a:t>N_Estimators</a:t>
            </a:r>
            <a:r>
              <a:rPr lang="en-US" sz="2000" spc="-110" dirty="0">
                <a:solidFill>
                  <a:srgbClr val="FFFFFF"/>
                </a:solidFill>
                <a:latin typeface="Montserrat"/>
                <a:ea typeface="Montserrat"/>
                <a:cs typeface="Montserrat"/>
                <a:sym typeface="Montserrat"/>
              </a:rPr>
              <a:t>: 500 (increased ensemble size)</a:t>
            </a:r>
          </a:p>
          <a:p>
            <a:pPr marL="0" lvl="0" indent="0" algn="just">
              <a:lnSpc>
                <a:spcPts val="2580"/>
              </a:lnSpc>
            </a:pPr>
            <a:r>
              <a:rPr lang="en-US" sz="2000" spc="-110" dirty="0">
                <a:solidFill>
                  <a:srgbClr val="FFFFFF"/>
                </a:solidFill>
                <a:latin typeface="Montserrat"/>
                <a:ea typeface="Montserrat"/>
                <a:cs typeface="Montserrat"/>
                <a:sym typeface="Montserrat"/>
              </a:rPr>
              <a:t>• Max Depth &amp; Subsample: Fine-tuned for generalization</a:t>
            </a:r>
          </a:p>
          <a:p>
            <a:pPr marL="0" lvl="0" indent="0" algn="just">
              <a:lnSpc>
                <a:spcPts val="2580"/>
              </a:lnSpc>
            </a:pPr>
            <a:r>
              <a:rPr lang="en-US" sz="2000" spc="-110" dirty="0">
                <a:solidFill>
                  <a:srgbClr val="FFFFFF"/>
                </a:solidFill>
                <a:latin typeface="Montserrat"/>
                <a:ea typeface="Montserrat"/>
                <a:cs typeface="Montserrat"/>
                <a:sym typeface="Montserrat"/>
              </a:rPr>
              <a:t>Performance Improvement</a:t>
            </a:r>
          </a:p>
          <a:p>
            <a:pPr marL="0" lvl="0" indent="0" algn="just">
              <a:lnSpc>
                <a:spcPts val="2580"/>
              </a:lnSpc>
            </a:pPr>
            <a:r>
              <a:rPr lang="en-US" sz="2000" spc="-110" dirty="0">
                <a:solidFill>
                  <a:srgbClr val="FF0000"/>
                </a:solidFill>
                <a:latin typeface="Times New Roman" panose="02020603050405020304" pitchFamily="18" charset="0"/>
                <a:ea typeface="Montserrat"/>
                <a:cs typeface="Times New Roman" panose="02020603050405020304" pitchFamily="18" charset="0"/>
                <a:sym typeface="Montserrat"/>
              </a:rPr>
              <a:t>Final RMSE% improved to 37.13%, </a:t>
            </a:r>
            <a:r>
              <a:rPr lang="en-US" sz="2000" spc="-110" dirty="0">
                <a:solidFill>
                  <a:srgbClr val="FFFFFF"/>
                </a:solidFill>
                <a:latin typeface="Montserrat"/>
                <a:ea typeface="Montserrat"/>
                <a:cs typeface="Montserrat"/>
                <a:sym typeface="Montserrat"/>
              </a:rPr>
              <a:t>demonstrating enhanced model stability and prediction accuracy over baseline Gradient Boosting configuration.</a:t>
            </a:r>
          </a:p>
        </p:txBody>
      </p:sp>
      <p:sp>
        <p:nvSpPr>
          <p:cNvPr id="11" name="TextBox 11"/>
          <p:cNvSpPr txBox="1"/>
          <p:nvPr/>
        </p:nvSpPr>
        <p:spPr>
          <a:xfrm>
            <a:off x="1379852" y="1043352"/>
            <a:ext cx="1549500" cy="406942"/>
          </a:xfrm>
          <a:prstGeom prst="rect">
            <a:avLst/>
          </a:prstGeom>
        </p:spPr>
        <p:txBody>
          <a:bodyPr lIns="0" tIns="0" rIns="0" bIns="0" rtlCol="0" anchor="t">
            <a:spAutoFit/>
          </a:bodyPr>
          <a:lstStyle/>
          <a:p>
            <a:pPr marL="0" lvl="0" indent="0" algn="l">
              <a:lnSpc>
                <a:spcPts val="1508"/>
              </a:lnSpc>
            </a:pPr>
            <a:r>
              <a:rPr lang="en-US" sz="1754" b="1" spc="-96" dirty="0">
                <a:solidFill>
                  <a:srgbClr val="FFFFFF"/>
                </a:solidFill>
                <a:latin typeface="Montserrat Bold"/>
                <a:ea typeface="Montserrat Bold"/>
                <a:cs typeface="Montserrat Bold"/>
                <a:sym typeface="Montserrat Bold"/>
              </a:rPr>
              <a:t>CREDIT CARD FORECASTING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969208" y="1026880"/>
            <a:ext cx="385487" cy="368789"/>
          </a:xfrm>
          <a:custGeom>
            <a:avLst/>
            <a:gdLst/>
            <a:ahLst/>
            <a:cxnLst/>
            <a:rect l="l" t="t" r="r" b="b"/>
            <a:pathLst>
              <a:path w="385487" h="368789">
                <a:moveTo>
                  <a:pt x="0" y="0"/>
                </a:moveTo>
                <a:lnTo>
                  <a:pt x="385487" y="0"/>
                </a:lnTo>
                <a:lnTo>
                  <a:pt x="385487" y="368789"/>
                </a:lnTo>
                <a:lnTo>
                  <a:pt x="0" y="368789"/>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1028700" y="3055753"/>
            <a:ext cx="8669388" cy="1886365"/>
          </a:xfrm>
          <a:prstGeom prst="rect">
            <a:avLst/>
          </a:prstGeom>
        </p:spPr>
        <p:txBody>
          <a:bodyPr lIns="0" tIns="0" rIns="0" bIns="0" rtlCol="0" anchor="t">
            <a:spAutoFit/>
          </a:bodyPr>
          <a:lstStyle/>
          <a:p>
            <a:pPr marL="0" lvl="0" indent="0" algn="l">
              <a:lnSpc>
                <a:spcPts val="7115"/>
              </a:lnSpc>
            </a:pPr>
            <a:r>
              <a:rPr lang="en-US" sz="7994" b="1">
                <a:solidFill>
                  <a:srgbClr val="FFFFFF"/>
                </a:solidFill>
                <a:latin typeface="Barlow Bold"/>
                <a:ea typeface="Barlow Bold"/>
                <a:cs typeface="Barlow Bold"/>
                <a:sym typeface="Barlow Bold"/>
              </a:rPr>
              <a:t>ACTUAL VS PREDICTED SPEND</a:t>
            </a:r>
          </a:p>
        </p:txBody>
      </p:sp>
      <p:pic>
        <p:nvPicPr>
          <p:cNvPr id="4" name="Picture 4"/>
          <p:cNvPicPr>
            <a:picLocks noChangeAspect="1"/>
          </p:cNvPicPr>
          <p:nvPr/>
        </p:nvPicPr>
        <p:blipFill>
          <a:blip r:embed="rId3"/>
          <a:stretch>
            <a:fillRect/>
          </a:stretch>
        </p:blipFill>
        <p:spPr>
          <a:xfrm>
            <a:off x="7552521" y="295098"/>
            <a:ext cx="7888822" cy="5681015"/>
          </a:xfrm>
          <a:prstGeom prst="rect">
            <a:avLst/>
          </a:prstGeom>
        </p:spPr>
      </p:pic>
      <p:grpSp>
        <p:nvGrpSpPr>
          <p:cNvPr id="5" name="Group 5"/>
          <p:cNvGrpSpPr/>
          <p:nvPr/>
        </p:nvGrpSpPr>
        <p:grpSpPr>
          <a:xfrm>
            <a:off x="9831081" y="4181333"/>
            <a:ext cx="6795415" cy="679541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4"/>
              <a:stretch>
                <a:fillRect/>
              </a:stretch>
            </a:blipFill>
            <a:ln w="85725" cap="sq">
              <a:solidFill>
                <a:srgbClr val="FFFFFF"/>
              </a:solidFill>
              <a:prstDash val="solid"/>
              <a:miter/>
            </a:ln>
          </p:spPr>
          <p:txBody>
            <a:bodyPr/>
            <a:lstStyle/>
            <a:p>
              <a:endParaRPr lang="en-IN"/>
            </a:p>
          </p:txBody>
        </p:sp>
      </p:grpSp>
      <p:grpSp>
        <p:nvGrpSpPr>
          <p:cNvPr id="7" name="Group 7"/>
          <p:cNvGrpSpPr/>
          <p:nvPr/>
        </p:nvGrpSpPr>
        <p:grpSpPr>
          <a:xfrm>
            <a:off x="13425271" y="542831"/>
            <a:ext cx="6795415" cy="679541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a:stretch>
            </a:blipFill>
            <a:ln w="85725" cap="sq">
              <a:solidFill>
                <a:srgbClr val="FFFFFF"/>
              </a:solidFill>
              <a:prstDash val="solid"/>
              <a:miter/>
            </a:ln>
          </p:spPr>
          <p:txBody>
            <a:bodyPr/>
            <a:lstStyle/>
            <a:p>
              <a:endParaRPr lang="en-IN"/>
            </a:p>
          </p:txBody>
        </p:sp>
      </p:grpSp>
      <p:sp>
        <p:nvSpPr>
          <p:cNvPr id="9" name="Freeform 9"/>
          <p:cNvSpPr/>
          <p:nvPr/>
        </p:nvSpPr>
        <p:spPr>
          <a:xfrm>
            <a:off x="-432037" y="8653250"/>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0" name="TextBox 10"/>
          <p:cNvSpPr txBox="1"/>
          <p:nvPr/>
        </p:nvSpPr>
        <p:spPr>
          <a:xfrm>
            <a:off x="1028700" y="5196707"/>
            <a:ext cx="7381299" cy="2313903"/>
          </a:xfrm>
          <a:prstGeom prst="rect">
            <a:avLst/>
          </a:prstGeom>
        </p:spPr>
        <p:txBody>
          <a:bodyPr lIns="0" tIns="0" rIns="0" bIns="0" rtlCol="0" anchor="t">
            <a:spAutoFit/>
          </a:bodyPr>
          <a:lstStyle/>
          <a:p>
            <a:pPr marL="0" lvl="0" indent="0" algn="just">
              <a:lnSpc>
                <a:spcPts val="2578"/>
              </a:lnSpc>
            </a:pPr>
            <a:r>
              <a:rPr lang="en-US" sz="1998" spc="-109" dirty="0">
                <a:solidFill>
                  <a:srgbClr val="FFFFFF"/>
                </a:solidFill>
                <a:latin typeface="Montserrat"/>
                <a:ea typeface="Montserrat"/>
                <a:cs typeface="Montserrat"/>
                <a:sym typeface="Montserrat"/>
              </a:rPr>
              <a:t>Our model demonstrates strong predictive accuracy for credit card expenditure</a:t>
            </a:r>
            <a:r>
              <a:rPr lang="en-US" sz="1998" b="1" spc="-109" dirty="0">
                <a:solidFill>
                  <a:srgbClr val="FFFFFF"/>
                </a:solidFill>
                <a:latin typeface="Montserrat"/>
                <a:ea typeface="Montserrat"/>
                <a:cs typeface="Montserrat"/>
                <a:sym typeface="Montserrat"/>
              </a:rPr>
              <a:t>. The scatter plot analysis reveals excellent performance in the 5,000-20,000 spend range where most customers fall. A conservative bias appears near the 40,000 cap for high spenders due to </a:t>
            </a:r>
            <a:r>
              <a:rPr lang="en-US" sz="1998" b="1" spc="-109" dirty="0" err="1">
                <a:solidFill>
                  <a:srgbClr val="FFFFFF"/>
                </a:solidFill>
                <a:latin typeface="Montserrat"/>
                <a:ea typeface="Montserrat"/>
                <a:cs typeface="Montserrat"/>
                <a:sym typeface="Montserrat"/>
              </a:rPr>
              <a:t>winsorization</a:t>
            </a:r>
            <a:r>
              <a:rPr lang="en-US" sz="1998" spc="-109" dirty="0">
                <a:solidFill>
                  <a:srgbClr val="FFFFFF"/>
                </a:solidFill>
                <a:latin typeface="Montserrat"/>
                <a:ea typeface="Montserrat"/>
                <a:cs typeface="Montserrat"/>
                <a:sym typeface="Montserrat"/>
              </a:rPr>
              <a:t>. The 45-degree reference line validates prediction quality across the core customer segment.</a:t>
            </a:r>
          </a:p>
        </p:txBody>
      </p:sp>
      <p:sp>
        <p:nvSpPr>
          <p:cNvPr id="12" name="TextBox 5">
            <a:extLst>
              <a:ext uri="{FF2B5EF4-FFF2-40B4-BE49-F238E27FC236}">
                <a16:creationId xmlns:a16="http://schemas.microsoft.com/office/drawing/2014/main" id="{53B125B9-E7C9-FC1E-357D-F9FFF0ABDB59}"/>
              </a:ext>
            </a:extLst>
          </p:cNvPr>
          <p:cNvSpPr txBox="1"/>
          <p:nvPr/>
        </p:nvSpPr>
        <p:spPr>
          <a:xfrm>
            <a:off x="1420116" y="902041"/>
            <a:ext cx="1549500" cy="596292"/>
          </a:xfrm>
          <a:prstGeom prst="rect">
            <a:avLst/>
          </a:prstGeom>
        </p:spPr>
        <p:txBody>
          <a:bodyPr lIns="0" tIns="0" rIns="0" bIns="0" rtlCol="0" anchor="t">
            <a:spAutoFit/>
          </a:bodyPr>
          <a:lstStyle/>
          <a:p>
            <a:pPr marL="0" lvl="0" indent="0" algn="l">
              <a:lnSpc>
                <a:spcPts val="1507"/>
              </a:lnSpc>
            </a:pPr>
            <a:r>
              <a:rPr lang="en-US" sz="1753" b="1" spc="-96" dirty="0">
                <a:solidFill>
                  <a:srgbClr val="FFFFFF"/>
                </a:solidFill>
                <a:latin typeface="Montserrat Bold"/>
                <a:ea typeface="Montserrat Bold"/>
                <a:cs typeface="Montserrat Bold"/>
                <a:sym typeface="Montserrat Bold"/>
              </a:rPr>
              <a:t>CREDIT CARD EXPENDITURE FORECASTING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1028700" y="1076233"/>
            <a:ext cx="293554" cy="293554"/>
          </a:xfrm>
          <a:custGeom>
            <a:avLst/>
            <a:gdLst/>
            <a:ahLst/>
            <a:cxnLst/>
            <a:rect l="l" t="t" r="r" b="b"/>
            <a:pathLst>
              <a:path w="293554" h="293554">
                <a:moveTo>
                  <a:pt x="0" y="0"/>
                </a:moveTo>
                <a:lnTo>
                  <a:pt x="293554" y="0"/>
                </a:lnTo>
                <a:lnTo>
                  <a:pt x="293554" y="293554"/>
                </a:lnTo>
                <a:lnTo>
                  <a:pt x="0" y="293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028700" y="1933978"/>
            <a:ext cx="6419044" cy="641904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4"/>
              <a:stretch>
                <a:fillRect/>
              </a:stretch>
            </a:blipFill>
            <a:ln w="85725" cap="sq">
              <a:solidFill>
                <a:srgbClr val="FFFFFF"/>
              </a:solidFill>
              <a:prstDash val="solid"/>
              <a:miter/>
            </a:ln>
          </p:spPr>
          <p:txBody>
            <a:bodyPr/>
            <a:lstStyle/>
            <a:p>
              <a:endParaRPr lang="en-IN"/>
            </a:p>
          </p:txBody>
        </p:sp>
      </p:grpSp>
      <p:grpSp>
        <p:nvGrpSpPr>
          <p:cNvPr id="5" name="Group 5"/>
          <p:cNvGrpSpPr/>
          <p:nvPr/>
        </p:nvGrpSpPr>
        <p:grpSpPr>
          <a:xfrm>
            <a:off x="1181100" y="5448300"/>
            <a:ext cx="3057122" cy="305712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a:stretch>
            </a:blipFill>
            <a:ln w="85725" cap="sq">
              <a:solidFill>
                <a:srgbClr val="FFFFFF"/>
              </a:solidFill>
              <a:prstDash val="solid"/>
              <a:miter/>
            </a:ln>
          </p:spPr>
          <p:txBody>
            <a:bodyPr/>
            <a:lstStyle/>
            <a:p>
              <a:endParaRPr lang="en-IN"/>
            </a:p>
          </p:txBody>
        </p:sp>
      </p:grpSp>
      <p:sp>
        <p:nvSpPr>
          <p:cNvPr id="7" name="Freeform 7"/>
          <p:cNvSpPr/>
          <p:nvPr/>
        </p:nvSpPr>
        <p:spPr>
          <a:xfrm>
            <a:off x="11249180" y="240194"/>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8" name="Freeform 8"/>
          <p:cNvSpPr/>
          <p:nvPr/>
        </p:nvSpPr>
        <p:spPr>
          <a:xfrm>
            <a:off x="301741" y="8653250"/>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9" name="TextBox 9"/>
          <p:cNvSpPr txBox="1"/>
          <p:nvPr/>
        </p:nvSpPr>
        <p:spPr>
          <a:xfrm>
            <a:off x="8589912" y="2569978"/>
            <a:ext cx="8669388" cy="1886586"/>
          </a:xfrm>
          <a:prstGeom prst="rect">
            <a:avLst/>
          </a:prstGeom>
        </p:spPr>
        <p:txBody>
          <a:bodyPr lIns="0" tIns="0" rIns="0" bIns="0" rtlCol="0" anchor="t">
            <a:spAutoFit/>
          </a:bodyPr>
          <a:lstStyle/>
          <a:p>
            <a:pPr marL="0" lvl="0" indent="0" algn="l">
              <a:lnSpc>
                <a:spcPts val="7120"/>
              </a:lnSpc>
            </a:pPr>
            <a:r>
              <a:rPr lang="en-US" sz="8000" b="1">
                <a:solidFill>
                  <a:srgbClr val="FFFFFF"/>
                </a:solidFill>
                <a:latin typeface="Barlow Bold"/>
                <a:ea typeface="Barlow Bold"/>
                <a:cs typeface="Barlow Bold"/>
                <a:sym typeface="Barlow Bold"/>
              </a:rPr>
              <a:t>PREDICTION ON MISSING DATA</a:t>
            </a:r>
          </a:p>
        </p:txBody>
      </p:sp>
      <p:sp>
        <p:nvSpPr>
          <p:cNvPr id="10" name="TextBox 10"/>
          <p:cNvSpPr txBox="1"/>
          <p:nvPr/>
        </p:nvSpPr>
        <p:spPr>
          <a:xfrm>
            <a:off x="8610600" y="4710932"/>
            <a:ext cx="8115300" cy="2980816"/>
          </a:xfrm>
          <a:prstGeom prst="rect">
            <a:avLst/>
          </a:prstGeom>
        </p:spPr>
        <p:txBody>
          <a:bodyPr lIns="0" tIns="0" rIns="0" bIns="0" rtlCol="0" anchor="t">
            <a:spAutoFit/>
          </a:bodyPr>
          <a:lstStyle/>
          <a:p>
            <a:pPr marL="0" lvl="0" indent="0" algn="just">
              <a:lnSpc>
                <a:spcPts val="2580"/>
              </a:lnSpc>
            </a:pPr>
            <a:r>
              <a:rPr lang="en-US" sz="2000" b="1" spc="-110" dirty="0">
                <a:solidFill>
                  <a:srgbClr val="FFFFFF"/>
                </a:solidFill>
                <a:latin typeface="Montserrat"/>
                <a:ea typeface="Montserrat"/>
                <a:cs typeface="Montserrat"/>
                <a:sym typeface="Montserrat"/>
              </a:rPr>
              <a:t>With our validated Gradient Boosting model ready for deployment, we applied it to the 5,000 customers who had missing credit card spend values. The preprocessing pipeline remained identical to training, ensuring consistency in data transformation</a:t>
            </a:r>
            <a:r>
              <a:rPr lang="en-US" sz="2000" spc="-110" dirty="0">
                <a:solidFill>
                  <a:srgbClr val="FFFFFF"/>
                </a:solidFill>
                <a:latin typeface="Montserrat"/>
                <a:ea typeface="Montserrat"/>
                <a:cs typeface="Montserrat"/>
                <a:sym typeface="Montserrat"/>
              </a:rPr>
              <a:t>.</a:t>
            </a:r>
          </a:p>
          <a:p>
            <a:pPr marL="0" lvl="0" indent="0" algn="just">
              <a:lnSpc>
                <a:spcPts val="2580"/>
              </a:lnSpc>
            </a:pPr>
            <a:r>
              <a:rPr lang="en-US" sz="2000" spc="-110" dirty="0">
                <a:solidFill>
                  <a:srgbClr val="FFFFFF"/>
                </a:solidFill>
                <a:latin typeface="Montserrat"/>
                <a:ea typeface="Montserrat"/>
                <a:cs typeface="Montserrat"/>
                <a:sym typeface="Montserrat"/>
              </a:rPr>
              <a:t>We utilized the top 10 most predictive features identified during model development to generate forecasted credit card consumption values. The resulting predictions were exported to Credit_Consumption_Predictions.csv for integration with business systems and marketing campaign planning.</a:t>
            </a:r>
          </a:p>
        </p:txBody>
      </p:sp>
      <p:sp>
        <p:nvSpPr>
          <p:cNvPr id="12" name="TextBox 5">
            <a:extLst>
              <a:ext uri="{FF2B5EF4-FFF2-40B4-BE49-F238E27FC236}">
                <a16:creationId xmlns:a16="http://schemas.microsoft.com/office/drawing/2014/main" id="{E1879FDD-4A45-3305-045E-7417810CE070}"/>
              </a:ext>
            </a:extLst>
          </p:cNvPr>
          <p:cNvSpPr txBox="1"/>
          <p:nvPr/>
        </p:nvSpPr>
        <p:spPr>
          <a:xfrm>
            <a:off x="1322254" y="965626"/>
            <a:ext cx="1549500" cy="596292"/>
          </a:xfrm>
          <a:prstGeom prst="rect">
            <a:avLst/>
          </a:prstGeom>
        </p:spPr>
        <p:txBody>
          <a:bodyPr lIns="0" tIns="0" rIns="0" bIns="0" rtlCol="0" anchor="t">
            <a:spAutoFit/>
          </a:bodyPr>
          <a:lstStyle/>
          <a:p>
            <a:pPr marL="0" lvl="0" indent="0" algn="l">
              <a:lnSpc>
                <a:spcPts val="1507"/>
              </a:lnSpc>
            </a:pPr>
            <a:r>
              <a:rPr lang="en-US" sz="1753" b="1" spc="-96" dirty="0">
                <a:solidFill>
                  <a:srgbClr val="FFFFFF"/>
                </a:solidFill>
                <a:latin typeface="Montserrat Bold"/>
                <a:ea typeface="Montserrat Bold"/>
                <a:cs typeface="Montserrat Bold"/>
                <a:sym typeface="Montserrat Bold"/>
              </a:rPr>
              <a:t>CREDIT CARD EXPENDITURE FORECASTING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1028817" y="1076403"/>
            <a:ext cx="293554" cy="293554"/>
          </a:xfrm>
          <a:custGeom>
            <a:avLst/>
            <a:gdLst/>
            <a:ahLst/>
            <a:cxnLst/>
            <a:rect l="l" t="t" r="r" b="b"/>
            <a:pathLst>
              <a:path w="293554" h="293554">
                <a:moveTo>
                  <a:pt x="0" y="0"/>
                </a:moveTo>
                <a:lnTo>
                  <a:pt x="293553" y="0"/>
                </a:lnTo>
                <a:lnTo>
                  <a:pt x="293553" y="293553"/>
                </a:lnTo>
                <a:lnTo>
                  <a:pt x="0" y="293553"/>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4809306" y="3304265"/>
            <a:ext cx="8669388" cy="991236"/>
          </a:xfrm>
          <a:prstGeom prst="rect">
            <a:avLst/>
          </a:prstGeom>
        </p:spPr>
        <p:txBody>
          <a:bodyPr lIns="0" tIns="0" rIns="0" bIns="0" rtlCol="0" anchor="t">
            <a:spAutoFit/>
          </a:bodyPr>
          <a:lstStyle/>
          <a:p>
            <a:pPr marL="0" lvl="0" indent="0" algn="ctr">
              <a:lnSpc>
                <a:spcPts val="7120"/>
              </a:lnSpc>
            </a:pPr>
            <a:r>
              <a:rPr lang="en-US" sz="8000" b="1">
                <a:solidFill>
                  <a:srgbClr val="FFFFFF"/>
                </a:solidFill>
                <a:latin typeface="Barlow Bold"/>
                <a:ea typeface="Barlow Bold"/>
                <a:cs typeface="Barlow Bold"/>
                <a:sym typeface="Barlow Bold"/>
              </a:rPr>
              <a:t>FINAL VALIDATION</a:t>
            </a:r>
          </a:p>
        </p:txBody>
      </p:sp>
      <p:grpSp>
        <p:nvGrpSpPr>
          <p:cNvPr id="4" name="Group 4"/>
          <p:cNvGrpSpPr/>
          <p:nvPr/>
        </p:nvGrpSpPr>
        <p:grpSpPr>
          <a:xfrm>
            <a:off x="14097000" y="1874782"/>
            <a:ext cx="3850984" cy="3334779"/>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l="-3536" r="-3536"/>
              </a:stretch>
            </a:blipFill>
            <a:ln w="180975" cap="sq">
              <a:solidFill>
                <a:srgbClr val="FFFFFF"/>
              </a:solidFill>
              <a:prstDash val="solid"/>
              <a:miter/>
            </a:ln>
          </p:spPr>
          <p:txBody>
            <a:bodyPr/>
            <a:lstStyle/>
            <a:p>
              <a:endParaRPr lang="en-IN"/>
            </a:p>
          </p:txBody>
        </p:sp>
      </p:grpSp>
      <p:grpSp>
        <p:nvGrpSpPr>
          <p:cNvPr id="6" name="Group 6"/>
          <p:cNvGrpSpPr/>
          <p:nvPr/>
        </p:nvGrpSpPr>
        <p:grpSpPr>
          <a:xfrm>
            <a:off x="609600" y="1874782"/>
            <a:ext cx="3850984" cy="3334779"/>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3536" r="-3536"/>
              </a:stretch>
            </a:blipFill>
            <a:ln w="180975" cap="sq">
              <a:solidFill>
                <a:srgbClr val="FFFFFF"/>
              </a:solidFill>
              <a:prstDash val="solid"/>
              <a:miter/>
            </a:ln>
          </p:spPr>
          <p:txBody>
            <a:bodyPr/>
            <a:lstStyle/>
            <a:p>
              <a:endParaRPr lang="en-IN"/>
            </a:p>
          </p:txBody>
        </p:sp>
      </p:grpSp>
      <p:sp>
        <p:nvSpPr>
          <p:cNvPr id="8" name="Freeform 8"/>
          <p:cNvSpPr/>
          <p:nvPr/>
        </p:nvSpPr>
        <p:spPr>
          <a:xfrm>
            <a:off x="-432037" y="8653250"/>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9" name="Freeform 9"/>
          <p:cNvSpPr/>
          <p:nvPr/>
        </p:nvSpPr>
        <p:spPr>
          <a:xfrm>
            <a:off x="11972419" y="8653250"/>
            <a:ext cx="6722778" cy="1210100"/>
          </a:xfrm>
          <a:custGeom>
            <a:avLst/>
            <a:gdLst/>
            <a:ahLst/>
            <a:cxnLst/>
            <a:rect l="l" t="t" r="r" b="b"/>
            <a:pathLst>
              <a:path w="6722778" h="1210100">
                <a:moveTo>
                  <a:pt x="0" y="0"/>
                </a:moveTo>
                <a:lnTo>
                  <a:pt x="6722778" y="0"/>
                </a:lnTo>
                <a:lnTo>
                  <a:pt x="6722778" y="1210100"/>
                </a:lnTo>
                <a:lnTo>
                  <a:pt x="0" y="12101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0" name="TextBox 10"/>
          <p:cNvSpPr txBox="1"/>
          <p:nvPr/>
        </p:nvSpPr>
        <p:spPr>
          <a:xfrm>
            <a:off x="1379852" y="1043352"/>
            <a:ext cx="1549500" cy="406889"/>
          </a:xfrm>
          <a:prstGeom prst="rect">
            <a:avLst/>
          </a:prstGeom>
        </p:spPr>
        <p:txBody>
          <a:bodyPr lIns="0" tIns="0" rIns="0" bIns="0" rtlCol="0" anchor="t">
            <a:spAutoFit/>
          </a:bodyPr>
          <a:lstStyle/>
          <a:p>
            <a:pPr marL="0" lvl="0" indent="0" algn="l">
              <a:lnSpc>
                <a:spcPts val="1507"/>
              </a:lnSpc>
            </a:pPr>
            <a:r>
              <a:rPr lang="en-US" sz="1753" b="1" spc="-96">
                <a:solidFill>
                  <a:srgbClr val="FFFFFF"/>
                </a:solidFill>
                <a:latin typeface="Montserrat Bold"/>
                <a:ea typeface="Montserrat Bold"/>
                <a:cs typeface="Montserrat Bold"/>
                <a:sym typeface="Montserrat Bold"/>
              </a:rPr>
              <a:t>CREDIT CARD FORECASTING</a:t>
            </a:r>
          </a:p>
        </p:txBody>
      </p:sp>
      <p:sp>
        <p:nvSpPr>
          <p:cNvPr id="11" name="TextBox 11"/>
          <p:cNvSpPr txBox="1"/>
          <p:nvPr/>
        </p:nvSpPr>
        <p:spPr>
          <a:xfrm>
            <a:off x="3630979" y="5595895"/>
            <a:ext cx="11026042" cy="1929781"/>
          </a:xfrm>
          <a:prstGeom prst="rect">
            <a:avLst/>
          </a:prstGeom>
        </p:spPr>
        <p:txBody>
          <a:bodyPr lIns="0" tIns="0" rIns="0" bIns="0" rtlCol="0" anchor="t">
            <a:spAutoFit/>
          </a:bodyPr>
          <a:lstStyle/>
          <a:p>
            <a:pPr marL="0" lvl="0" indent="0" algn="ctr">
              <a:lnSpc>
                <a:spcPts val="2578"/>
              </a:lnSpc>
            </a:pPr>
            <a:r>
              <a:rPr lang="en-US" sz="1998" spc="-109">
                <a:solidFill>
                  <a:srgbClr val="FFFFFF"/>
                </a:solidFill>
                <a:latin typeface="Montserrat"/>
                <a:ea typeface="Montserrat"/>
                <a:cs typeface="Montserrat"/>
                <a:sym typeface="Montserrat"/>
              </a:rPr>
              <a:t>The histogram overlay comparing predicted versus actual credit card spend confirms that our model accurately mirrors real-world spending patterns. This validation demonstrates the model's reliability for marketing strategy development and targeted campaign planning. The close alignment between distributions validates the Gradient Boosting model's suitability for forecasting customer expenditure and supports confident deployment for business decision-making.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11442"/>
        </a:solidFill>
        <a:effectLst/>
      </p:bgPr>
    </p:bg>
    <p:spTree>
      <p:nvGrpSpPr>
        <p:cNvPr id="1" name=""/>
        <p:cNvGrpSpPr/>
        <p:nvPr/>
      </p:nvGrpSpPr>
      <p:grpSpPr>
        <a:xfrm>
          <a:off x="0" y="0"/>
          <a:ext cx="0" cy="0"/>
          <a:chOff x="0" y="0"/>
          <a:chExt cx="0" cy="0"/>
        </a:xfrm>
      </p:grpSpPr>
      <p:sp>
        <p:nvSpPr>
          <p:cNvPr id="2" name="Freeform 2"/>
          <p:cNvSpPr/>
          <p:nvPr/>
        </p:nvSpPr>
        <p:spPr>
          <a:xfrm>
            <a:off x="461519" y="508276"/>
            <a:ext cx="17364962" cy="9270449"/>
          </a:xfrm>
          <a:custGeom>
            <a:avLst/>
            <a:gdLst/>
            <a:ahLst/>
            <a:cxnLst/>
            <a:rect l="l" t="t" r="r" b="b"/>
            <a:pathLst>
              <a:path w="17364962" h="9270449">
                <a:moveTo>
                  <a:pt x="0" y="0"/>
                </a:moveTo>
                <a:lnTo>
                  <a:pt x="17364962" y="0"/>
                </a:lnTo>
                <a:lnTo>
                  <a:pt x="17364962" y="9270448"/>
                </a:lnTo>
                <a:lnTo>
                  <a:pt x="0" y="9270448"/>
                </a:lnTo>
                <a:lnTo>
                  <a:pt x="0" y="0"/>
                </a:lnTo>
                <a:close/>
              </a:path>
            </a:pathLst>
          </a:custGeom>
          <a:blipFill>
            <a:blip r:embed="rId2"/>
            <a:stretch>
              <a:fillRect t="-575" r="-1648" b="-575"/>
            </a:stretch>
          </a:blipFill>
          <a:ln>
            <a:solidFill>
              <a:schemeClr val="tx2"/>
            </a:solidFill>
          </a:ln>
          <a:effectLst>
            <a:outerShdw blurRad="50800" dist="50800" dir="5400000" algn="ctr" rotWithShape="0">
              <a:srgbClr val="000000">
                <a:alpha val="99000"/>
              </a:srgbClr>
            </a:outerShdw>
          </a:effectLst>
        </p:spPr>
        <p:txBody>
          <a:bodyPr/>
          <a:lstStyle/>
          <a:p>
            <a:endParaRPr lang="en-IN" b="1" dirty="0">
              <a:ln w="22225">
                <a:solidFill>
                  <a:schemeClr val="accent2"/>
                </a:solidFill>
                <a:prstDash val="solid"/>
              </a:ln>
              <a:solidFill>
                <a:schemeClr val="accent2">
                  <a:lumMod val="40000"/>
                  <a:lumOff val="6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14" b="-814"/>
            </a:stretch>
          </a:blipFill>
        </p:spPr>
        <p:txBody>
          <a:bodyPr/>
          <a:lstStyle/>
          <a:p>
            <a:endParaRPr lang="en-IN"/>
          </a:p>
        </p:txBody>
      </p:sp>
      <p:sp>
        <p:nvSpPr>
          <p:cNvPr id="3" name="Freeform 3"/>
          <p:cNvSpPr/>
          <p:nvPr/>
        </p:nvSpPr>
        <p:spPr>
          <a:xfrm>
            <a:off x="1030824" y="1076242"/>
            <a:ext cx="282452" cy="278215"/>
          </a:xfrm>
          <a:custGeom>
            <a:avLst/>
            <a:gdLst/>
            <a:ahLst/>
            <a:cxnLst/>
            <a:rect l="l" t="t" r="r" b="b"/>
            <a:pathLst>
              <a:path w="282452" h="278215">
                <a:moveTo>
                  <a:pt x="0" y="0"/>
                </a:moveTo>
                <a:lnTo>
                  <a:pt x="282452" y="0"/>
                </a:lnTo>
                <a:lnTo>
                  <a:pt x="282452" y="278215"/>
                </a:lnTo>
                <a:lnTo>
                  <a:pt x="0" y="278215"/>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2666991" y="3103665"/>
            <a:ext cx="12954017" cy="2039835"/>
          </a:xfrm>
          <a:prstGeom prst="rect">
            <a:avLst/>
          </a:prstGeom>
        </p:spPr>
        <p:txBody>
          <a:bodyPr lIns="0" tIns="0" rIns="0" bIns="0" rtlCol="0" anchor="t">
            <a:spAutoFit/>
          </a:bodyPr>
          <a:lstStyle/>
          <a:p>
            <a:pPr marL="0" lvl="0" indent="0" algn="ctr">
              <a:lnSpc>
                <a:spcPts val="14857"/>
              </a:lnSpc>
            </a:pPr>
            <a:r>
              <a:rPr lang="en-US" sz="16694" b="1">
                <a:solidFill>
                  <a:srgbClr val="FFFFFF"/>
                </a:solidFill>
                <a:latin typeface="Barlow Bold"/>
                <a:ea typeface="Barlow Bold"/>
                <a:cs typeface="Barlow Bold"/>
                <a:sym typeface="Barlow Bold"/>
              </a:rPr>
              <a:t>THANK YOU</a:t>
            </a:r>
          </a:p>
        </p:txBody>
      </p:sp>
      <p:sp>
        <p:nvSpPr>
          <p:cNvPr id="5" name="TextBox 5"/>
          <p:cNvSpPr txBox="1"/>
          <p:nvPr/>
        </p:nvSpPr>
        <p:spPr>
          <a:xfrm>
            <a:off x="1379852" y="1043352"/>
            <a:ext cx="1549500" cy="406942"/>
          </a:xfrm>
          <a:prstGeom prst="rect">
            <a:avLst/>
          </a:prstGeom>
        </p:spPr>
        <p:txBody>
          <a:bodyPr lIns="0" tIns="0" rIns="0" bIns="0" rtlCol="0" anchor="t">
            <a:spAutoFit/>
          </a:bodyPr>
          <a:lstStyle/>
          <a:p>
            <a:pPr marL="0" lvl="0" indent="0" algn="l">
              <a:lnSpc>
                <a:spcPts val="1508"/>
              </a:lnSpc>
            </a:pPr>
            <a:r>
              <a:rPr lang="en-US" sz="1754" b="1" spc="-96">
                <a:solidFill>
                  <a:srgbClr val="FFFFFF"/>
                </a:solidFill>
                <a:latin typeface="Montserrat Bold"/>
                <a:ea typeface="Montserrat Bold"/>
                <a:cs typeface="Montserrat Bold"/>
                <a:sym typeface="Montserrat Bold"/>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1128</Words>
  <Application>Microsoft Office PowerPoint</Application>
  <PresentationFormat>Custom</PresentationFormat>
  <Paragraphs>106</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Montserrat Bold</vt:lpstr>
      <vt:lpstr>Times New Roman</vt:lpstr>
      <vt:lpstr>Calibri</vt:lpstr>
      <vt:lpstr>Arial</vt:lpstr>
      <vt:lpstr>Barlow Bold</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Spend Forecasting Insights</dc:title>
  <cp:lastModifiedBy>Vignesh Jaganathan</cp:lastModifiedBy>
  <cp:revision>1</cp:revision>
  <dcterms:created xsi:type="dcterms:W3CDTF">2006-08-16T00:00:00Z</dcterms:created>
  <dcterms:modified xsi:type="dcterms:W3CDTF">2026-05-03T18:30:00Z</dcterms:modified>
  <dc:identifier>DAHIiqrGouo</dc:identifier>
</cp:coreProperties>
</file>